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9" r:id="rId3"/>
    <p:sldId id="268" r:id="rId4"/>
    <p:sldId id="269" r:id="rId5"/>
    <p:sldId id="257" r:id="rId6"/>
    <p:sldId id="258" r:id="rId7"/>
    <p:sldId id="261" r:id="rId8"/>
    <p:sldId id="270" r:id="rId9"/>
    <p:sldId id="271" r:id="rId10"/>
    <p:sldId id="272" r:id="rId11"/>
    <p:sldId id="274" r:id="rId12"/>
    <p:sldId id="276" r:id="rId13"/>
    <p:sldId id="277" r:id="rId14"/>
    <p:sldId id="262" r:id="rId15"/>
    <p:sldId id="302" r:id="rId16"/>
    <p:sldId id="282" r:id="rId17"/>
    <p:sldId id="278" r:id="rId18"/>
    <p:sldId id="279" r:id="rId19"/>
    <p:sldId id="283" r:id="rId20"/>
    <p:sldId id="297" r:id="rId21"/>
    <p:sldId id="281" r:id="rId22"/>
    <p:sldId id="280" r:id="rId23"/>
    <p:sldId id="285" r:id="rId24"/>
    <p:sldId id="286" r:id="rId25"/>
    <p:sldId id="287" r:id="rId26"/>
    <p:sldId id="288" r:id="rId27"/>
    <p:sldId id="289" r:id="rId28"/>
    <p:sldId id="300" r:id="rId29"/>
    <p:sldId id="294" r:id="rId30"/>
    <p:sldId id="290" r:id="rId31"/>
    <p:sldId id="291" r:id="rId32"/>
    <p:sldId id="292" r:id="rId33"/>
    <p:sldId id="293" r:id="rId34"/>
    <p:sldId id="295" r:id="rId35"/>
    <p:sldId id="296" r:id="rId36"/>
    <p:sldId id="298" r:id="rId37"/>
    <p:sldId id="265" r:id="rId38"/>
    <p:sldId id="267" r:id="rId39"/>
    <p:sldId id="264" r:id="rId40"/>
    <p:sldId id="266" r:id="rId41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8"/>
    <p:restoredTop sz="94674"/>
  </p:normalViewPr>
  <p:slideViewPr>
    <p:cSldViewPr snapToGrid="0" snapToObjects="1">
      <p:cViewPr varScale="1">
        <p:scale>
          <a:sx n="97" d="100"/>
          <a:sy n="97" d="100"/>
        </p:scale>
        <p:origin x="204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rk, Jason (DSHS/OOS/ERMO)" userId="3d82299c-6dd6-4d0e-927f-3e19d6bc487a" providerId="ADAL" clId="{FBF84589-5CE9-4E20-A73E-C47734D8936F}"/>
    <pc:docChg chg="modSld">
      <pc:chgData name="York, Jason (DSHS/OOS/ERMO)" userId="3d82299c-6dd6-4d0e-927f-3e19d6bc487a" providerId="ADAL" clId="{FBF84589-5CE9-4E20-A73E-C47734D8936F}" dt="2023-10-23T18:35:27.735" v="10" actId="20577"/>
      <pc:docMkLst>
        <pc:docMk/>
      </pc:docMkLst>
      <pc:sldChg chg="modSp mod">
        <pc:chgData name="York, Jason (DSHS/OOS/ERMO)" userId="3d82299c-6dd6-4d0e-927f-3e19d6bc487a" providerId="ADAL" clId="{FBF84589-5CE9-4E20-A73E-C47734D8936F}" dt="2023-10-23T18:35:27.735" v="10" actId="20577"/>
        <pc:sldMkLst>
          <pc:docMk/>
          <pc:sldMk cId="2535838413" sldId="256"/>
        </pc:sldMkLst>
        <pc:spChg chg="mod">
          <ac:chgData name="York, Jason (DSHS/OOS/ERMO)" userId="3d82299c-6dd6-4d0e-927f-3e19d6bc487a" providerId="ADAL" clId="{FBF84589-5CE9-4E20-A73E-C47734D8936F}" dt="2023-10-23T18:35:27.735" v="10" actId="20577"/>
          <ac:spMkLst>
            <pc:docMk/>
            <pc:sldMk cId="2535838413" sldId="256"/>
            <ac:spMk id="3" creationId="{E14D50B4-658F-8742-AF60-644026A8A43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04686633-5FED-4CBF-B55B-4B297DC10B6F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85CC6356-780E-4850-B560-D49A535A8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667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 will work with people</a:t>
            </a:r>
            <a:r>
              <a:rPr lang="en-US" baseline="0" dirty="0"/>
              <a:t> in person or their will be a general discussion via Teams.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CC6356-780E-4850-B560-D49A535A848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354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</a:t>
            </a:r>
            <a:r>
              <a:rPr lang="en-US" baseline="0" dirty="0"/>
              <a:t> trauma is happening at home as well as at work.  </a:t>
            </a:r>
          </a:p>
          <a:p>
            <a:r>
              <a:rPr lang="en-US" baseline="0" dirty="0"/>
              <a:t>Staff are dealing with the aftermath of COVID, mass shootings, drug use in the restrooms, verbal and physical violence in the office.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CC6356-780E-4850-B560-D49A535A848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047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Don/Jason to</a:t>
            </a:r>
            <a:r>
              <a:rPr lang="en-US" baseline="0" dirty="0"/>
              <a:t> tell the story of the person crying the whole training because of all the trauma at home.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CC6356-780E-4850-B560-D49A535A848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9551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Split up groups into 3 or 4.</a:t>
            </a:r>
          </a:p>
          <a:p>
            <a:r>
              <a:rPr lang="en-US" dirty="0"/>
              <a:t>Walk</a:t>
            </a:r>
            <a:r>
              <a:rPr lang="en-US" baseline="0" dirty="0"/>
              <a:t> around and help</a:t>
            </a:r>
          </a:p>
          <a:p>
            <a:r>
              <a:rPr lang="en-US" baseline="0" dirty="0"/>
              <a:t>Report out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CC6356-780E-4850-B560-D49A535A848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1378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the deviations</a:t>
            </a:r>
            <a:r>
              <a:rPr lang="en-US" baseline="0" dirty="0"/>
              <a:t> at work and what supervisors should do if they see someone deviating from the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CC6356-780E-4850-B560-D49A535A848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0897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DCS</a:t>
            </a:r>
            <a:r>
              <a:rPr lang="en-US" baseline="0" dirty="0"/>
              <a:t> Alternative Solutions site - Resources</a:t>
            </a:r>
            <a:endParaRPr lang="en-US" dirty="0"/>
          </a:p>
          <a:p>
            <a:r>
              <a:rPr lang="en-US" dirty="0"/>
              <a:t>Pass out identifying supporters document.</a:t>
            </a:r>
          </a:p>
          <a:p>
            <a:endParaRPr lang="en-US" dirty="0"/>
          </a:p>
          <a:p>
            <a:r>
              <a:rPr lang="en-US" dirty="0"/>
              <a:t>If individuals are interested they could write down supporters they could explore/turn to/be</a:t>
            </a:r>
            <a:r>
              <a:rPr lang="en-US" baseline="0" dirty="0"/>
              <a:t> referred to in the event they needed them; specific to each domain. </a:t>
            </a:r>
          </a:p>
          <a:p>
            <a:endParaRPr lang="en-US" baseline="0" dirty="0"/>
          </a:p>
          <a:p>
            <a:pPr marL="174708" indent="-174708">
              <a:buFont typeface="Arial" panose="020B0604020202020204" pitchFamily="34" charset="0"/>
              <a:buChar char="•"/>
            </a:pPr>
            <a:r>
              <a:rPr lang="en-US" b="1" baseline="0" dirty="0"/>
              <a:t>Bullet each type of support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C0257A-E6AD-483C-A226-5F38363762B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5517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one spokesperson report out for each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CC6356-780E-4850-B560-D49A535A848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7846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Please sign in</a:t>
            </a:r>
            <a:r>
              <a:rPr lang="en-US" baseline="0" dirty="0"/>
              <a:t> so we can ensure that everyone gets credit for taking this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CC6356-780E-4850-B560-D49A535A8481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77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D15BF-DA19-084E-8167-222409EAB6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AE5C0A-867A-7842-A05B-772912374C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957C91-21A0-5C44-AB7C-928283E13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569E0-0C4F-4D41-A79F-822AA0C98EFD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A7E13-DF65-F94D-A9BF-DE7996A32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0389D-1F2E-3A46-8124-CCFDCD92F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5FA44-27EE-4A4C-81F8-9DC9C94FC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300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62B44-20E6-614D-8BAB-0032B979A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76E30-66CE-F747-A7D0-DF2ACB46C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59E58-E371-1042-BDD8-8068B2679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569E0-0C4F-4D41-A79F-822AA0C98EFD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11A98-BC5F-C24C-AE11-9BF25370D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5C024-0F3B-0746-ABBD-8D64FDB5B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5FA44-27EE-4A4C-81F8-9DC9C94FC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307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D06E5-6100-5447-9900-D80DB7679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94F7E1-0C96-E943-B3F1-A4AD2A5AC2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FAC85-90A0-9349-94DB-E8262A5F3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569E0-0C4F-4D41-A79F-822AA0C98EFD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950BC4-4763-2049-815C-83A3BA8EA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6D09E7-4191-C14C-B913-D127AF83A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5FA44-27EE-4A4C-81F8-9DC9C94FC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777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2E45C-4D6E-C340-95A2-9FFD95254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25359-56F4-7F41-8335-A1283DBC09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D0281C-41B9-0E41-973E-5BCEA0F52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496FE5-BACB-7B46-95AC-9D693EC28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569E0-0C4F-4D41-A79F-822AA0C98EFD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44F54D-5FDC-C642-B669-9D9FE77B0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F55262-065D-2343-9605-E62A7B57E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5FA44-27EE-4A4C-81F8-9DC9C94FC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965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A637A-24FA-4E43-8017-1CD9A21A5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EEC553-D00C-6B4E-BD0B-0BDC55A930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E290BB-A051-734C-A4D0-18465D6B0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379D5C-E16B-284A-9455-73B4A7F23B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21695A-DF09-7149-A5A6-D10CEDA0B9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B96DA8-556B-EF41-927F-F273F9648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569E0-0C4F-4D41-A79F-822AA0C98EFD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3B9DE5-41C8-8D45-8D16-3F03AA32A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11119A-7D4E-724B-8F15-89C4286B2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5FA44-27EE-4A4C-81F8-9DC9C94FC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587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090E9-E483-8A4C-BF6F-DB280CDD3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2F69E9-0AE3-B445-8BFC-ED14B3358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569E0-0C4F-4D41-A79F-822AA0C98EFD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18B184-EEAD-2B4F-A564-5245027A9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9D06C4-ABEF-3E40-8108-F945A32C5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5FA44-27EE-4A4C-81F8-9DC9C94FC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64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2D6CED-8C18-1A41-A82B-2A904DFEA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569E0-0C4F-4D41-A79F-822AA0C98EFD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F252-078B-7445-988E-0D415C771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57164-C0F1-F74C-89FF-94E0301C7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5FA44-27EE-4A4C-81F8-9DC9C94FC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92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C5A24-95CD-054E-ADD9-4DA9939E7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6D6AA-A7DE-CC4A-9A8E-CC2C8D059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A2F887-B836-E74B-BCD5-C29306C09C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2C8252-8068-C84D-9464-DC59AB92A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569E0-0C4F-4D41-A79F-822AA0C98EFD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F44609-7052-7B41-8254-51A9FFC21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758730-B0BA-6D4F-8321-FAC83A2C9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5FA44-27EE-4A4C-81F8-9DC9C94FC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409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50930-B111-F342-BC27-822A7A7E0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8A60AF-B82C-3041-962D-FE93825FD8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122AF8-96E5-FB46-9794-30888CAD1B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83A731-91C6-5D4A-9789-9841FCA4E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569E0-0C4F-4D41-A79F-822AA0C98EFD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59DEE7-276B-6841-A098-BDA570562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10FC48-4BFE-4643-830B-CB47542C8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5FA44-27EE-4A4C-81F8-9DC9C94FC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553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094AF-2DB2-0046-942B-2A95154ED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87448E-2146-7F4A-B352-0135961605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47B64-C8FB-0044-A78D-227EB383A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569E0-0C4F-4D41-A79F-822AA0C98EFD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8D21D-D1F4-CE4B-B458-B4E930814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3318D-9F53-2F47-9851-14706E398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5FA44-27EE-4A4C-81F8-9DC9C94FC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647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30DA10-2F04-B246-B115-17D7B9C7C5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1A2CEB-9C04-8445-ACAC-E30C26200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F88437-D330-724F-B20D-F28E9685D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569E0-0C4F-4D41-A79F-822AA0C98EFD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1F652-2F54-CE46-95CC-DFBFDD395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10A8CA-E017-DA43-AC13-6264CF3E5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5FA44-27EE-4A4C-81F8-9DC9C94FC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517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008B48-B4E3-5348-B8EE-08AC111A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CCEAC1-3C1F-CF47-B868-28D554C011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87B6E7-5176-B34A-8B6E-C21D3F01FB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9569E0-0C4F-4D41-A79F-822AA0C98EFD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352421-27D2-804E-9200-5C15AE6A47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B7400-8F7F-1E48-AF84-EAD5791B72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75FA44-27EE-4A4C-81F8-9DC9C94FC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811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yorkjr@dshs.wa.gov" TargetMode="External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Don.mercer@dshs.wa.gov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GdtG3Arw4FU" TargetMode="External"/><Relationship Id="rId4" Type="http://schemas.openxmlformats.org/officeDocument/2006/relationships/image" Target="../media/image11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-4EDhdAHrOg" TargetMode="External"/><Relationship Id="rId4" Type="http://schemas.openxmlformats.org/officeDocument/2006/relationships/image" Target="../media/image12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player.vimeo.com/video/264722244" TargetMode="External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EF5CFD-B653-3949-AFAE-CAD339215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402154-8FC6-3641-BAE0-BA3E7D6530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32856"/>
            <a:ext cx="9144000" cy="1097281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altLang="en-US" dirty="0"/>
              <a:t>Identifying Personal Trauma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4D50B4-658F-8742-AF60-644026A8A4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5146" y="3313047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altLang="en-US" dirty="0"/>
              <a:t>Jason York, DSHS Enterprise Safety Manager</a:t>
            </a:r>
          </a:p>
          <a:p>
            <a:r>
              <a:rPr lang="en-US" altLang="en-US" dirty="0">
                <a:hlinkClick r:id="rId3"/>
              </a:rPr>
              <a:t>Jason.York@dshs.wa.gov</a:t>
            </a:r>
            <a:endParaRPr lang="en-US" altLang="en-US" dirty="0"/>
          </a:p>
          <a:p>
            <a:r>
              <a:rPr lang="en-US" altLang="en-US" dirty="0"/>
              <a:t>Don Mercer, MS, MBA, ESA Emergency Mgmt.</a:t>
            </a:r>
          </a:p>
          <a:p>
            <a:r>
              <a:rPr lang="en-US" altLang="en-US" dirty="0">
                <a:hlinkClick r:id="rId4"/>
              </a:rPr>
              <a:t>Don.Mercer@dshs.wa.gov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35838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8DF81FA-B18F-FF42-9E02-5B7B8B0F6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A8ED8F5-BC0E-454F-AE37-ABF762688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959885" cy="1289014"/>
          </a:xfrm>
        </p:spPr>
        <p:txBody>
          <a:bodyPr/>
          <a:lstStyle/>
          <a:p>
            <a:r>
              <a:rPr lang="en-US" dirty="0"/>
              <a:t>Who I am… (Jason)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85716-D2B2-0243-A1DA-EE13F2A17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4140"/>
            <a:ext cx="6959885" cy="385003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City of Eugene, OR: Emergency Manager</a:t>
            </a:r>
          </a:p>
          <a:p>
            <a:r>
              <a:rPr lang="en-US" dirty="0"/>
              <a:t>State of Washington: Emergency Manager</a:t>
            </a:r>
          </a:p>
          <a:p>
            <a:r>
              <a:rPr lang="en-US" dirty="0"/>
              <a:t>USAF Veteran</a:t>
            </a:r>
          </a:p>
          <a:p>
            <a:r>
              <a:rPr lang="en-US" dirty="0"/>
              <a:t>20+ Years of Diverse Management Experience</a:t>
            </a:r>
          </a:p>
          <a:p>
            <a:r>
              <a:rPr lang="en-US" dirty="0"/>
              <a:t>Training</a:t>
            </a:r>
          </a:p>
          <a:p>
            <a:pPr lvl="1"/>
            <a:r>
              <a:rPr lang="en-US" dirty="0"/>
              <a:t>Laura Van </a:t>
            </a:r>
            <a:r>
              <a:rPr lang="en-US" dirty="0" err="1"/>
              <a:t>Dernoot</a:t>
            </a:r>
            <a:r>
              <a:rPr lang="en-US" dirty="0"/>
              <a:t> </a:t>
            </a:r>
            <a:r>
              <a:rPr lang="en-US" dirty="0" err="1"/>
              <a:t>Lipsky</a:t>
            </a:r>
            <a:endParaRPr lang="en-US" dirty="0"/>
          </a:p>
          <a:p>
            <a:pPr lvl="1"/>
            <a:r>
              <a:rPr lang="en-US" dirty="0"/>
              <a:t>Phoebe Mulligan</a:t>
            </a:r>
          </a:p>
          <a:p>
            <a:pPr lvl="1"/>
            <a:r>
              <a:rPr lang="en-US" dirty="0"/>
              <a:t>Crisis Prevention Institute (CPI)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125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8DF81FA-B18F-FF42-9E02-5B7B8B0F6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A8ED8F5-BC0E-454F-AE37-ABF762688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959885" cy="1289014"/>
          </a:xfrm>
        </p:spPr>
        <p:txBody>
          <a:bodyPr/>
          <a:lstStyle/>
          <a:p>
            <a:r>
              <a:rPr lang="en-US" dirty="0"/>
              <a:t>Who I am…(Don)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85716-D2B2-0243-A1DA-EE13F2A17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54140"/>
            <a:ext cx="6959885" cy="3850033"/>
          </a:xfrm>
        </p:spPr>
        <p:txBody>
          <a:bodyPr>
            <a:normAutofit fontScale="92500"/>
          </a:bodyPr>
          <a:lstStyle/>
          <a:p>
            <a:r>
              <a:rPr lang="en-US" dirty="0"/>
              <a:t>Therapist for 13 years, 7 with Group Health Cooperative.</a:t>
            </a:r>
          </a:p>
          <a:p>
            <a:r>
              <a:rPr lang="en-US" dirty="0"/>
              <a:t>State of Washington: Office Chief, Office of Financial Recovery for 13 years.</a:t>
            </a:r>
          </a:p>
          <a:p>
            <a:r>
              <a:rPr lang="en-US" dirty="0"/>
              <a:t>Developed the Employment Pipeline Program</a:t>
            </a:r>
          </a:p>
          <a:p>
            <a:r>
              <a:rPr lang="en-US" dirty="0"/>
              <a:t>30+ Years of Diverse Management Experience</a:t>
            </a:r>
          </a:p>
          <a:p>
            <a:r>
              <a:rPr lang="en-US" dirty="0"/>
              <a:t>Currently the ESA Emergency Management and Safety Manager. 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447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8DF81FA-B18F-FF42-9E02-5B7B8B0F6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A8ED8F5-BC0E-454F-AE37-ABF762688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959885" cy="1289014"/>
          </a:xfrm>
        </p:spPr>
        <p:txBody>
          <a:bodyPr/>
          <a:lstStyle/>
          <a:p>
            <a:r>
              <a:rPr lang="en-US" dirty="0"/>
              <a:t>Who I’m not…(Me, again)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85716-D2B2-0243-A1DA-EE13F2A17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54140"/>
            <a:ext cx="6959885" cy="3850033"/>
          </a:xfrm>
        </p:spPr>
        <p:txBody>
          <a:bodyPr>
            <a:normAutofit fontScale="92500"/>
          </a:bodyPr>
          <a:lstStyle/>
          <a:p>
            <a:r>
              <a:rPr lang="en-US" dirty="0"/>
              <a:t>Therapist</a:t>
            </a:r>
          </a:p>
          <a:p>
            <a:r>
              <a:rPr lang="en-US" dirty="0"/>
              <a:t>Counselor</a:t>
            </a:r>
          </a:p>
          <a:p>
            <a:r>
              <a:rPr lang="en-US" dirty="0"/>
              <a:t>Social Worker</a:t>
            </a:r>
          </a:p>
          <a:p>
            <a:pPr marL="109537" indent="0">
              <a:buNone/>
            </a:pPr>
            <a:endParaRPr lang="en-US" dirty="0"/>
          </a:p>
          <a:p>
            <a:pPr marL="109537" indent="0" algn="ctr">
              <a:buNone/>
            </a:pPr>
            <a:r>
              <a:rPr lang="en-US" dirty="0"/>
              <a:t>The scope of this training is to help you identify signs of trauma and offer pathways to solutions</a:t>
            </a:r>
          </a:p>
          <a:p>
            <a:pPr marL="109537" indent="0" algn="ctr">
              <a:buNone/>
            </a:pPr>
            <a:endParaRPr lang="en-US" dirty="0"/>
          </a:p>
          <a:p>
            <a:pPr marL="109537" indent="0" algn="ctr">
              <a:buNone/>
            </a:pPr>
            <a:r>
              <a:rPr lang="en-US" dirty="0"/>
              <a:t>I am here to facilitate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154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80CA91C-0E84-5D44-8E75-DAE90BC2E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A8FA23F-B74A-1647-9501-26A148305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857144" cy="1325563"/>
          </a:xfrm>
        </p:spPr>
        <p:txBody>
          <a:bodyPr/>
          <a:lstStyle/>
          <a:p>
            <a:r>
              <a:rPr lang="en-US" dirty="0"/>
              <a:t>What This Place Is: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D4E791F-756F-7040-BCCF-8D3881DD1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075" y="1438275"/>
            <a:ext cx="7095269" cy="4623479"/>
          </a:xfrm>
        </p:spPr>
        <p:txBody>
          <a:bodyPr>
            <a:normAutofit fontScale="70000" lnSpcReduction="20000"/>
          </a:bodyPr>
          <a:lstStyle/>
          <a:p>
            <a:pPr marL="109537" indent="0" algn="ctr">
              <a:buNone/>
            </a:pPr>
            <a:r>
              <a:rPr lang="en-US" sz="4800" b="1" dirty="0"/>
              <a:t>A Safe and Supportive Place</a:t>
            </a:r>
            <a:br>
              <a:rPr lang="en-US" sz="4000" dirty="0"/>
            </a:br>
            <a:endParaRPr lang="en-US" dirty="0"/>
          </a:p>
          <a:p>
            <a:pPr marL="109537" indent="0" algn="ctr">
              <a:buNone/>
            </a:pPr>
            <a:r>
              <a:rPr lang="en-US" dirty="0"/>
              <a:t>We are all peers</a:t>
            </a:r>
          </a:p>
          <a:p>
            <a:pPr marL="109537" indent="0" algn="ctr">
              <a:buNone/>
            </a:pPr>
            <a:endParaRPr lang="en-US" dirty="0"/>
          </a:p>
          <a:p>
            <a:pPr marL="109537" indent="0" algn="ctr">
              <a:buNone/>
            </a:pPr>
            <a:r>
              <a:rPr lang="en-US" dirty="0"/>
              <a:t>Please share and be open, but be aware of your environment</a:t>
            </a:r>
          </a:p>
          <a:p>
            <a:pPr marL="109537" indent="0" algn="ctr">
              <a:buNone/>
            </a:pPr>
            <a:endParaRPr lang="en-US" dirty="0"/>
          </a:p>
          <a:p>
            <a:pPr marL="109537" indent="0" algn="ctr">
              <a:buNone/>
            </a:pPr>
            <a:r>
              <a:rPr lang="en-US" dirty="0"/>
              <a:t>Constructive feedback only</a:t>
            </a:r>
          </a:p>
          <a:p>
            <a:pPr marL="109537" indent="0" algn="ctr">
              <a:buNone/>
            </a:pPr>
            <a:endParaRPr lang="en-US" dirty="0"/>
          </a:p>
          <a:p>
            <a:pPr marL="109537" indent="0" algn="ctr">
              <a:buNone/>
            </a:pPr>
            <a:r>
              <a:rPr lang="en-US" dirty="0"/>
              <a:t>Assume good intent</a:t>
            </a:r>
          </a:p>
          <a:p>
            <a:pPr marL="109537" indent="0" algn="ctr">
              <a:buNone/>
            </a:pPr>
            <a:endParaRPr lang="en-US" dirty="0"/>
          </a:p>
          <a:p>
            <a:pPr marL="109537" indent="0" algn="ctr">
              <a:buNone/>
            </a:pPr>
            <a:r>
              <a:rPr lang="en-US" dirty="0"/>
              <a:t>There are mandatory reporters in the room</a:t>
            </a:r>
          </a:p>
          <a:p>
            <a:pPr marL="109537" indent="0" algn="ctr">
              <a:buNone/>
            </a:pPr>
            <a:endParaRPr lang="en-US" dirty="0"/>
          </a:p>
          <a:p>
            <a:pPr marL="109537" indent="0" algn="ctr">
              <a:buNone/>
            </a:pPr>
            <a:r>
              <a:rPr lang="en-US" dirty="0"/>
              <a:t>I won’t share what you say</a:t>
            </a:r>
          </a:p>
        </p:txBody>
      </p:sp>
    </p:spTree>
    <p:extLst>
      <p:ext uri="{BB962C8B-B14F-4D97-AF65-F5344CB8AC3E}">
        <p14:creationId xmlns:p14="http://schemas.microsoft.com/office/powerpoint/2010/main" val="2060951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AFBDC8-B3D1-4E40-85A9-686C8641B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D900A1-CCC4-C447-BDCF-1E822D5DA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Driving Matrix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7B869C7-3CB2-404E-A358-0A96F1377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524" y="1562100"/>
            <a:ext cx="10810875" cy="4795838"/>
          </a:xfrm>
        </p:spPr>
        <p:txBody>
          <a:bodyPr>
            <a:normAutofit/>
          </a:bodyPr>
          <a:lstStyle/>
          <a:p>
            <a:r>
              <a:rPr lang="en-US" dirty="0"/>
              <a:t>Direct Staff Feedback  - 2017 and 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Employee Satisfaction Survey Questions</a:t>
            </a:r>
          </a:p>
          <a:p>
            <a:pPr marL="392113" lvl="1" indent="0">
              <a:buNone/>
            </a:pPr>
            <a:r>
              <a:rPr lang="en-US" dirty="0"/>
              <a:t>#6 I have the resources to do my job effectively</a:t>
            </a:r>
          </a:p>
          <a:p>
            <a:pPr marL="392113" lvl="1" indent="0">
              <a:buNone/>
            </a:pPr>
            <a:r>
              <a:rPr lang="en-US" dirty="0"/>
              <a:t>#7 My Supervisor treats me with dignity and respect</a:t>
            </a:r>
          </a:p>
          <a:p>
            <a:pPr marL="392113" lvl="1" indent="0">
              <a:buNone/>
            </a:pPr>
            <a:r>
              <a:rPr lang="en-US" dirty="0"/>
              <a:t>#23 My agency supports me in living a healthier life</a:t>
            </a:r>
          </a:p>
          <a:p>
            <a:endParaRPr lang="en-US" dirty="0"/>
          </a:p>
          <a:p>
            <a:r>
              <a:rPr lang="en-US" dirty="0"/>
              <a:t>Safety Survey</a:t>
            </a:r>
          </a:p>
          <a:p>
            <a:pPr marL="392113" lvl="1" indent="0">
              <a:buNone/>
            </a:pPr>
            <a:r>
              <a:rPr lang="en-US" dirty="0"/>
              <a:t>#21 Exec Management demonstrates a commitment to worker safety and health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29845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E5CF2AC-B1D5-5846-8C6D-56402C58B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987CAB-6DA0-C44B-BB12-7C78A1FFA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Situational Awareness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FB1D5-2004-B24A-B92B-68E06B07A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73873"/>
            <a:ext cx="12192000" cy="4872038"/>
          </a:xfrm>
        </p:spPr>
        <p:txBody>
          <a:bodyPr/>
          <a:lstStyle/>
          <a:p>
            <a:r>
              <a:rPr lang="en-US" dirty="0"/>
              <a:t>Be aware of yourself and of others</a:t>
            </a:r>
          </a:p>
          <a:p>
            <a:r>
              <a:rPr lang="en-US" dirty="0"/>
              <a:t>Look for those changes in yourself and others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2435911"/>
            <a:ext cx="8229600" cy="381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981200" y="2498454"/>
            <a:ext cx="2743200" cy="381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724400" y="4403454"/>
            <a:ext cx="5486400" cy="1905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714500" y="4736074"/>
            <a:ext cx="8763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Is something setting off a trigger? </a:t>
            </a:r>
          </a:p>
          <a:p>
            <a:pPr algn="ctr"/>
            <a:endParaRPr lang="en-US" sz="2800" b="1" dirty="0"/>
          </a:p>
          <a:p>
            <a:pPr algn="ctr"/>
            <a:r>
              <a:rPr lang="en-US" sz="2800" b="1" dirty="0"/>
              <a:t>Are you noticing patterns in your/others behavior?</a:t>
            </a:r>
          </a:p>
          <a:p>
            <a:pPr algn="ctr"/>
            <a:r>
              <a:rPr lang="en-US" sz="2800" b="1" dirty="0"/>
              <a:t> </a:t>
            </a:r>
          </a:p>
        </p:txBody>
      </p:sp>
      <p:sp>
        <p:nvSpPr>
          <p:cNvPr id="10" name="Donut 9"/>
          <p:cNvSpPr/>
          <p:nvPr/>
        </p:nvSpPr>
        <p:spPr>
          <a:xfrm>
            <a:off x="3615890" y="2341054"/>
            <a:ext cx="7391400" cy="2194295"/>
          </a:xfrm>
          <a:prstGeom prst="donut">
            <a:avLst>
              <a:gd name="adj" fmla="val 0"/>
            </a:avLst>
          </a:prstGeom>
          <a:solidFill>
            <a:srgbClr val="FF0000"/>
          </a:solidFill>
          <a:ln w="7620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5232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AFBDC8-B3D1-4E40-85A9-686C8641B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D900A1-CCC4-C447-BDCF-1E822D5DA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7B869C7-3CB2-404E-A358-0A96F1377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524" y="1562100"/>
            <a:ext cx="10810875" cy="4795838"/>
          </a:xfrm>
        </p:spPr>
        <p:txBody>
          <a:bodyPr>
            <a:normAutofit/>
          </a:bodyPr>
          <a:lstStyle/>
          <a:p>
            <a:r>
              <a:rPr lang="en-US" dirty="0"/>
              <a:t> Identify symptoms of trauma</a:t>
            </a:r>
          </a:p>
          <a:p>
            <a:endParaRPr lang="en-US" dirty="0"/>
          </a:p>
          <a:p>
            <a:r>
              <a:rPr lang="en-US" dirty="0"/>
              <a:t>Discuss the impact on professionals</a:t>
            </a:r>
          </a:p>
          <a:p>
            <a:endParaRPr lang="en-US" dirty="0"/>
          </a:p>
          <a:p>
            <a:r>
              <a:rPr lang="en-US" dirty="0"/>
              <a:t>Guide conversations on trauma impact</a:t>
            </a:r>
          </a:p>
          <a:p>
            <a:endParaRPr lang="en-US" dirty="0"/>
          </a:p>
          <a:p>
            <a:r>
              <a:rPr lang="en-US" dirty="0"/>
              <a:t>Provide examples to help manage the impacts</a:t>
            </a:r>
          </a:p>
          <a:p>
            <a:endParaRPr lang="en-US" dirty="0"/>
          </a:p>
          <a:p>
            <a:r>
              <a:rPr lang="en-US" dirty="0"/>
              <a:t>Talk about next steps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5794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AFBDC8-B3D1-4E40-85A9-686C8641B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D900A1-CCC4-C447-BDCF-1E822D5DA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7B869C7-3CB2-404E-A358-0A96F1377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524" y="1562100"/>
            <a:ext cx="10810875" cy="47958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 </a:t>
            </a:r>
            <a:endParaRPr lang="en-US" sz="2000" dirty="0"/>
          </a:p>
          <a:p>
            <a:pPr marL="0" indent="0" algn="ctr">
              <a:buNone/>
            </a:pPr>
            <a:br>
              <a:rPr lang="en-US" sz="4800" dirty="0"/>
            </a:br>
            <a:r>
              <a:rPr lang="en-US" sz="4800" dirty="0"/>
              <a:t>What is hard about your day to day job?</a:t>
            </a:r>
          </a:p>
          <a:p>
            <a:pPr marL="0" indent="0" algn="ctr">
              <a:buNone/>
            </a:pPr>
            <a:endParaRPr lang="en-US" sz="4800" dirty="0"/>
          </a:p>
          <a:p>
            <a:pPr marL="0" indent="0" algn="ctr">
              <a:buNone/>
            </a:pPr>
            <a:r>
              <a:rPr lang="en-US" sz="4800" dirty="0"/>
              <a:t>What gets you down?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619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AFBDC8-B3D1-4E40-85A9-686C8641B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D900A1-CCC4-C447-BDCF-1E822D5DA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Secondary Trauma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7B869C7-3CB2-404E-A358-0A96F1377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524" y="1562100"/>
            <a:ext cx="10810875" cy="4795838"/>
          </a:xfrm>
        </p:spPr>
        <p:txBody>
          <a:bodyPr>
            <a:normAutofit/>
          </a:bodyPr>
          <a:lstStyle/>
          <a:p>
            <a:pPr marL="109537" indent="0" algn="ctr" fontAlgn="auto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</a:t>
            </a:r>
          </a:p>
          <a:p>
            <a:pPr marL="109537" indent="0" algn="ctr" fontAlgn="auto">
              <a:spcBef>
                <a:spcPts val="0"/>
              </a:spcBef>
              <a:spcAft>
                <a:spcPts val="0"/>
              </a:spcAft>
              <a:buNone/>
            </a:pPr>
            <a:endParaRPr lang="en-US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09537" indent="0" algn="ctr" fontAlgn="auto">
              <a:spcBef>
                <a:spcPts val="0"/>
              </a:spcBef>
              <a:spcAft>
                <a:spcPts val="0"/>
              </a:spcAft>
              <a:buNone/>
            </a:pPr>
            <a:endParaRPr lang="en-US" sz="3200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09537" indent="0" algn="ctr" fontAlgn="auto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1" dirty="0">
                <a:latin typeface="Calibri" panose="020F0502020204030204" pitchFamily="34" charset="0"/>
                <a:cs typeface="Calibri" panose="020F0502020204030204" pitchFamily="34" charset="0"/>
              </a:rPr>
              <a:t>“The entirety of how we interact with others’ suffering, pain and crisis”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3200" b="1" dirty="0">
              <a:solidFill>
                <a:prstClr val="black"/>
              </a:solidFill>
            </a:endParaRPr>
          </a:p>
          <a:p>
            <a:pPr marL="109537" indent="0" algn="ctr" fontAlgn="auto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prstClr val="black"/>
                </a:solidFill>
              </a:rPr>
              <a:t>How the world around us and what we experience impacts us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566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AFBDC8-B3D1-4E40-85A9-686C8641B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D900A1-CCC4-C447-BDCF-1E822D5DA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Trauma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7B869C7-3CB2-404E-A358-0A96F1377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524" y="1562100"/>
            <a:ext cx="10810875" cy="47958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dirty="0">
              <a:solidFill>
                <a:prstClr val="black"/>
              </a:solidFill>
            </a:endParaRPr>
          </a:p>
          <a:p>
            <a:pPr marL="0" indent="0" algn="ctr">
              <a:buNone/>
            </a:pPr>
            <a:endParaRPr lang="en-US" dirty="0">
              <a:solidFill>
                <a:prstClr val="black"/>
              </a:solidFill>
            </a:endParaRPr>
          </a:p>
          <a:p>
            <a:pPr marL="0" indent="0" algn="ctr">
              <a:buNone/>
            </a:pPr>
            <a:endParaRPr lang="en-US" dirty="0">
              <a:solidFill>
                <a:prstClr val="black"/>
              </a:solidFill>
            </a:endParaRPr>
          </a:p>
          <a:p>
            <a:pPr marL="0" indent="0" algn="ctr">
              <a:buNone/>
            </a:pPr>
            <a:r>
              <a:rPr lang="en-US" sz="3600" dirty="0">
                <a:solidFill>
                  <a:prstClr val="black"/>
                </a:solidFill>
              </a:rPr>
              <a:t>An emotional response to a terrible event like an accident, assault or natural disaster.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593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AFBDC8-B3D1-4E40-85A9-686C8641B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D900A1-CCC4-C447-BDCF-1E822D5DA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7B869C7-3CB2-404E-A358-0A96F1377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524" y="1562100"/>
            <a:ext cx="10810875" cy="4795838"/>
          </a:xfrm>
        </p:spPr>
        <p:txBody>
          <a:bodyPr>
            <a:normAutofit fontScale="92500" lnSpcReduction="10000"/>
          </a:bodyPr>
          <a:lstStyle/>
          <a:p>
            <a:pPr marL="109537" indent="0" algn="ctr">
              <a:buNone/>
            </a:pPr>
            <a:r>
              <a:rPr lang="en-US" dirty="0"/>
              <a:t> </a:t>
            </a:r>
          </a:p>
          <a:p>
            <a:pPr marL="109537" indent="0" algn="ctr">
              <a:buNone/>
            </a:pPr>
            <a:r>
              <a:rPr lang="en-US" sz="4000" dirty="0"/>
              <a:t>The “New Normal” Post Covid</a:t>
            </a:r>
          </a:p>
          <a:p>
            <a:pPr marL="109537" indent="0" algn="ctr">
              <a:buNone/>
            </a:pPr>
            <a:endParaRPr lang="en-US" sz="4000" dirty="0"/>
          </a:p>
          <a:p>
            <a:pPr marL="109537" indent="0" algn="ctr">
              <a:buNone/>
            </a:pPr>
            <a:r>
              <a:rPr lang="en-US" sz="4000" dirty="0"/>
              <a:t>Drug Use</a:t>
            </a:r>
          </a:p>
          <a:p>
            <a:pPr marL="109537" indent="0" algn="ctr">
              <a:buNone/>
            </a:pPr>
            <a:endParaRPr lang="en-US" sz="4000" dirty="0"/>
          </a:p>
          <a:p>
            <a:pPr marL="109537" indent="0" algn="ctr">
              <a:buNone/>
            </a:pPr>
            <a:r>
              <a:rPr lang="en-US" sz="4000" dirty="0"/>
              <a:t>Verbal and Physical Threats </a:t>
            </a:r>
          </a:p>
          <a:p>
            <a:pPr marL="109537" indent="0" algn="ctr">
              <a:buNone/>
            </a:pPr>
            <a:endParaRPr lang="en-US" sz="4000" dirty="0"/>
          </a:p>
          <a:p>
            <a:pPr marL="109537" indent="0" algn="ctr">
              <a:buNone/>
            </a:pPr>
            <a:r>
              <a:rPr lang="en-US" sz="4000" dirty="0"/>
              <a:t>Working From Home</a:t>
            </a:r>
          </a:p>
          <a:p>
            <a:pPr marL="109537" indent="0" algn="ctr">
              <a:buNone/>
            </a:pPr>
            <a:endParaRPr lang="en-US" sz="40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365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AFBDC8-B3D1-4E40-85A9-686C8641B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D900A1-CCC4-C447-BDCF-1E822D5DA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Influencers of Trauma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7B869C7-3CB2-404E-A358-0A96F1377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524" y="1562100"/>
            <a:ext cx="10810875" cy="4795838"/>
          </a:xfrm>
        </p:spPr>
        <p:txBody>
          <a:bodyPr>
            <a:normAutofit/>
          </a:bodyPr>
          <a:lstStyle/>
          <a:p>
            <a:r>
              <a:rPr lang="en-US" sz="2400" dirty="0"/>
              <a:t> </a:t>
            </a:r>
            <a:r>
              <a:rPr lang="en-US" sz="3600" dirty="0"/>
              <a:t>Personal Dynamics</a:t>
            </a:r>
          </a:p>
          <a:p>
            <a:pPr lvl="1"/>
            <a:r>
              <a:rPr lang="en-US" dirty="0"/>
              <a:t>Who we are and where we come from?</a:t>
            </a:r>
          </a:p>
          <a:p>
            <a:pPr lvl="1"/>
            <a:r>
              <a:rPr lang="en-US" dirty="0"/>
              <a:t>What is our own trauma history; How do we cope?</a:t>
            </a:r>
          </a:p>
          <a:p>
            <a:r>
              <a:rPr lang="en-US" sz="3600" dirty="0"/>
              <a:t>Organizational Tendencies</a:t>
            </a:r>
          </a:p>
          <a:p>
            <a:pPr lvl="1"/>
            <a:r>
              <a:rPr lang="en-US" dirty="0"/>
              <a:t>Culture of the workplace – not a specific person, group or policy</a:t>
            </a:r>
            <a:r>
              <a:rPr lang="en-US" sz="2800" dirty="0"/>
              <a:t>.</a:t>
            </a:r>
          </a:p>
          <a:p>
            <a:r>
              <a:rPr lang="en-US" sz="3600" dirty="0"/>
              <a:t>Societal Forces</a:t>
            </a:r>
          </a:p>
          <a:p>
            <a:pPr lvl="1"/>
            <a:r>
              <a:rPr lang="en-US" dirty="0"/>
              <a:t>Trauma is amplified by racism, sexism, classism, etc.</a:t>
            </a:r>
          </a:p>
          <a:p>
            <a:pPr lvl="1"/>
            <a:r>
              <a:rPr lang="en-US" dirty="0"/>
              <a:t>Can also be a response to the general unfairness that we witness (no matter what we do, bad things still happen)</a:t>
            </a:r>
            <a:endParaRPr lang="en-US" sz="28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8044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5AAF26-1394-6841-8B71-EE2C07082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100E85-763C-FE4B-AB6A-3308A809A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Signs of Trauma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729413" y="1558925"/>
            <a:ext cx="3362325" cy="4167744"/>
          </a:xfrm>
        </p:spPr>
        <p:txBody>
          <a:bodyPr>
            <a:normAutofit lnSpcReduction="10000"/>
          </a:bodyPr>
          <a:lstStyle/>
          <a:p>
            <a:pPr>
              <a:spcAft>
                <a:spcPts val="450"/>
              </a:spcAft>
            </a:pPr>
            <a:r>
              <a:rPr lang="en-US" sz="2175" dirty="0"/>
              <a:t>Dissociative moments</a:t>
            </a:r>
          </a:p>
          <a:p>
            <a:pPr>
              <a:spcAft>
                <a:spcPts val="450"/>
              </a:spcAft>
            </a:pPr>
            <a:r>
              <a:rPr lang="en-US" sz="2175" dirty="0"/>
              <a:t>Sense of persecution</a:t>
            </a:r>
          </a:p>
          <a:p>
            <a:pPr>
              <a:spcAft>
                <a:spcPts val="450"/>
              </a:spcAft>
            </a:pPr>
            <a:r>
              <a:rPr lang="en-US" sz="2175" dirty="0"/>
              <a:t>Guilt</a:t>
            </a:r>
          </a:p>
          <a:p>
            <a:pPr>
              <a:spcAft>
                <a:spcPts val="450"/>
              </a:spcAft>
            </a:pPr>
            <a:r>
              <a:rPr lang="en-US" sz="2175" dirty="0"/>
              <a:t>Fear</a:t>
            </a:r>
          </a:p>
          <a:p>
            <a:pPr>
              <a:spcAft>
                <a:spcPts val="450"/>
              </a:spcAft>
            </a:pPr>
            <a:r>
              <a:rPr lang="en-US" sz="2175" dirty="0"/>
              <a:t>Can’t empathize, numbing</a:t>
            </a:r>
          </a:p>
          <a:p>
            <a:pPr>
              <a:spcAft>
                <a:spcPts val="450"/>
              </a:spcAft>
            </a:pPr>
            <a:r>
              <a:rPr lang="en-US" sz="2175" dirty="0"/>
              <a:t>Anger/Cynicism</a:t>
            </a:r>
          </a:p>
          <a:p>
            <a:pPr>
              <a:spcAft>
                <a:spcPts val="450"/>
              </a:spcAft>
            </a:pPr>
            <a:r>
              <a:rPr lang="en-US" sz="2175" dirty="0"/>
              <a:t>Addictions</a:t>
            </a:r>
          </a:p>
          <a:p>
            <a:pPr>
              <a:spcAft>
                <a:spcPts val="450"/>
              </a:spcAft>
            </a:pPr>
            <a:r>
              <a:rPr lang="en-US" sz="2175" dirty="0"/>
              <a:t>Grandiosity</a:t>
            </a:r>
          </a:p>
          <a:p>
            <a:pPr>
              <a:spcAft>
                <a:spcPts val="450"/>
              </a:spcAft>
            </a:pPr>
            <a:r>
              <a:rPr lang="en-US" sz="2175" dirty="0"/>
              <a:t>Isolation</a:t>
            </a:r>
          </a:p>
          <a:p>
            <a:pPr>
              <a:spcAft>
                <a:spcPts val="900"/>
              </a:spcAft>
            </a:pPr>
            <a:endParaRPr lang="en-US" dirty="0"/>
          </a:p>
          <a:p>
            <a:pPr>
              <a:spcAft>
                <a:spcPts val="900"/>
              </a:spcAft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904875" y="1558925"/>
            <a:ext cx="4124325" cy="38959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2180" dirty="0"/>
              <a:t>Feeling Helpless/Hopeless</a:t>
            </a:r>
          </a:p>
          <a:p>
            <a:pPr marL="285750" indent="-285750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2180" dirty="0"/>
              <a:t>Sense that you can never do enough</a:t>
            </a:r>
          </a:p>
          <a:p>
            <a:pPr marL="285750" indent="-285750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2180" dirty="0"/>
              <a:t>Hypervigilance</a:t>
            </a:r>
          </a:p>
          <a:p>
            <a:pPr marL="285750" indent="-285750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2180" dirty="0"/>
              <a:t>Diminished Creativity</a:t>
            </a:r>
          </a:p>
          <a:p>
            <a:pPr marL="285750" indent="-285750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2180" dirty="0"/>
              <a:t>Inability to embrace complexity</a:t>
            </a:r>
          </a:p>
          <a:p>
            <a:pPr marL="285750" indent="-285750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2180" dirty="0"/>
              <a:t>Minimizing</a:t>
            </a:r>
          </a:p>
          <a:p>
            <a:pPr marL="285750" indent="-285750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2180" dirty="0"/>
              <a:t>Chronic Exhaustion</a:t>
            </a:r>
          </a:p>
          <a:p>
            <a:pPr marL="285750" indent="-285750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2180" dirty="0"/>
              <a:t>Inability to listen/deliberate avoidance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065330" y="5584448"/>
            <a:ext cx="535005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000" dirty="0"/>
              <a:t>Deviations from Baseline</a:t>
            </a:r>
          </a:p>
        </p:txBody>
      </p:sp>
    </p:spTree>
    <p:extLst>
      <p:ext uri="{BB962C8B-B14F-4D97-AF65-F5344CB8AC3E}">
        <p14:creationId xmlns:p14="http://schemas.microsoft.com/office/powerpoint/2010/main" val="20350401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AFBDC8-B3D1-4E40-85A9-686C8641B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D900A1-CCC4-C447-BDCF-1E822D5DA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Triggers Your Trauma?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7B869C7-3CB2-404E-A358-0A96F1377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524" y="1562100"/>
            <a:ext cx="10810875" cy="4795838"/>
          </a:xfrm>
        </p:spPr>
        <p:txBody>
          <a:bodyPr>
            <a:normAutofit/>
          </a:bodyPr>
          <a:lstStyle/>
          <a:p>
            <a:r>
              <a:rPr lang="en-US" dirty="0"/>
              <a:t>Your past and present feelings that you have stuffed away.</a:t>
            </a:r>
          </a:p>
          <a:p>
            <a:pPr lvl="1"/>
            <a:r>
              <a:rPr lang="en-US" dirty="0"/>
              <a:t>Also known as the baggage you are caring around</a:t>
            </a:r>
          </a:p>
          <a:p>
            <a:pPr lvl="1"/>
            <a:endParaRPr lang="en-US" dirty="0"/>
          </a:p>
          <a:p>
            <a:r>
              <a:rPr lang="en-US" dirty="0"/>
              <a:t>Take a minute to think about the triggers that causes you trauma.</a:t>
            </a:r>
          </a:p>
          <a:p>
            <a:pPr lvl="1"/>
            <a:r>
              <a:rPr lang="en-US" dirty="0"/>
              <a:t>Best way to predict the future is to look at the past.  Unless you change your past, your past will become your future.</a:t>
            </a:r>
          </a:p>
          <a:p>
            <a:pPr lvl="1"/>
            <a:endParaRPr lang="en-US" dirty="0"/>
          </a:p>
          <a:p>
            <a:r>
              <a:rPr lang="en-US" dirty="0"/>
              <a:t>Other triggers that could cause you trauma:</a:t>
            </a:r>
          </a:p>
          <a:p>
            <a:pPr lvl="1"/>
            <a:r>
              <a:rPr lang="en-US" dirty="0"/>
              <a:t>The News Media, Facebook, tick-tock, political beliefs, etc.</a:t>
            </a:r>
            <a:endParaRPr lang="en-US" sz="2800" dirty="0"/>
          </a:p>
          <a:p>
            <a:pPr lvl="1"/>
            <a:endParaRPr lang="en-US" dirty="0">
              <a:solidFill>
                <a:srgbClr val="92D05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92D05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5001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AFBDC8-B3D1-4E40-85A9-686C8641B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D900A1-CCC4-C447-BDCF-1E822D5DA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Trauma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7B869C7-3CB2-404E-A358-0A96F1377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524" y="1562100"/>
            <a:ext cx="10810875" cy="47958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Content Placeholder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700" y="1481138"/>
            <a:ext cx="6790600" cy="452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0815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AFBDC8-B3D1-4E40-85A9-686C8641B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D900A1-CCC4-C447-BDCF-1E822D5DA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Secondary Trauma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7B869C7-3CB2-404E-A358-0A96F1377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524" y="1295400"/>
            <a:ext cx="10810875" cy="4795838"/>
          </a:xfrm>
        </p:spPr>
        <p:txBody>
          <a:bodyPr>
            <a:normAutofit/>
          </a:bodyPr>
          <a:lstStyle/>
          <a:p>
            <a:pPr marL="109537" indent="0" algn="ctr">
              <a:buNone/>
            </a:pPr>
            <a:r>
              <a:rPr lang="en-US" dirty="0"/>
              <a:t> </a:t>
            </a:r>
            <a:r>
              <a:rPr lang="en-US" sz="13800" dirty="0"/>
              <a:t>??</a:t>
            </a:r>
          </a:p>
          <a:p>
            <a:pPr marL="109537" indent="0" algn="ctr">
              <a:buNone/>
            </a:pPr>
            <a:r>
              <a:rPr lang="en-US" dirty="0"/>
              <a:t>Veteran </a:t>
            </a:r>
          </a:p>
          <a:p>
            <a:pPr marL="109537" indent="0" algn="ctr">
              <a:buNone/>
            </a:pPr>
            <a:r>
              <a:rPr lang="en-US" dirty="0"/>
              <a:t>Emergency Manager</a:t>
            </a:r>
          </a:p>
          <a:p>
            <a:pPr marL="109537" indent="0" algn="ctr">
              <a:buNone/>
            </a:pPr>
            <a:r>
              <a:rPr lang="en-US" dirty="0"/>
              <a:t>Active Shooter Training</a:t>
            </a:r>
          </a:p>
          <a:p>
            <a:pPr marL="109537" indent="0" algn="ctr">
              <a:buNone/>
            </a:pPr>
            <a:endParaRPr lang="en-US" dirty="0"/>
          </a:p>
          <a:p>
            <a:pPr marL="109537" indent="0" algn="ctr">
              <a:buNone/>
            </a:pPr>
            <a:r>
              <a:rPr lang="en-US" dirty="0"/>
              <a:t>You are all going to die…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157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AFBDC8-B3D1-4E40-85A9-686C8641B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D900A1-CCC4-C447-BDCF-1E822D5DA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7B869C7-3CB2-404E-A358-0A96F1377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524" y="1562100"/>
            <a:ext cx="10810875" cy="47958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5850" y="2367171"/>
            <a:ext cx="10020299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9537" indent="0" algn="ctr">
              <a:buNone/>
            </a:pPr>
            <a:r>
              <a:rPr lang="en-US" sz="4400" dirty="0"/>
              <a:t>How I see the world was impacted.</a:t>
            </a:r>
          </a:p>
          <a:p>
            <a:pPr marL="109537" indent="0" algn="ctr">
              <a:buNone/>
            </a:pPr>
            <a:endParaRPr lang="en-US" sz="4400" dirty="0"/>
          </a:p>
          <a:p>
            <a:pPr marL="109537" indent="0" algn="ctr">
              <a:buNone/>
            </a:pPr>
            <a:r>
              <a:rPr lang="en-US" sz="4400" dirty="0"/>
              <a:t>How did/do I handle it? </a:t>
            </a:r>
          </a:p>
        </p:txBody>
      </p:sp>
    </p:spTree>
    <p:extLst>
      <p:ext uri="{BB962C8B-B14F-4D97-AF65-F5344CB8AC3E}">
        <p14:creationId xmlns:p14="http://schemas.microsoft.com/office/powerpoint/2010/main" val="10903891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B962305-C037-B847-B903-997D03057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DE6440-7497-D449-8A78-A92866A40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947263" cy="1325563"/>
          </a:xfrm>
        </p:spPr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D855924-A6E4-C24B-B34F-F2D613017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8638"/>
            <a:ext cx="6947263" cy="4235541"/>
          </a:xfrm>
        </p:spPr>
        <p:txBody>
          <a:bodyPr>
            <a:normAutofit fontScale="92500"/>
          </a:bodyPr>
          <a:lstStyle/>
          <a:p>
            <a:endParaRPr lang="en-US" dirty="0"/>
          </a:p>
          <a:p>
            <a:pPr lvl="1" algn="ctr"/>
            <a:r>
              <a:rPr lang="en-US" sz="3200" dirty="0"/>
              <a:t>How do these signs play out in your work environment?</a:t>
            </a:r>
          </a:p>
          <a:p>
            <a:pPr lvl="1" algn="ctr"/>
            <a:endParaRPr lang="en-US" sz="3200" dirty="0"/>
          </a:p>
          <a:p>
            <a:pPr lvl="1" algn="ctr"/>
            <a:r>
              <a:rPr lang="en-US" sz="3200" dirty="0"/>
              <a:t>What do you notice about your co-workers? About yourself?</a:t>
            </a:r>
          </a:p>
          <a:p>
            <a:pPr lvl="1" algn="ctr"/>
            <a:endParaRPr lang="en-US" sz="3200" dirty="0"/>
          </a:p>
          <a:p>
            <a:pPr lvl="1" algn="ctr"/>
            <a:r>
              <a:rPr lang="en-US" sz="3200" dirty="0"/>
              <a:t>How would it change your job if others were able to acknowledge the impact?</a:t>
            </a:r>
          </a:p>
        </p:txBody>
      </p:sp>
    </p:spTree>
    <p:extLst>
      <p:ext uri="{BB962C8B-B14F-4D97-AF65-F5344CB8AC3E}">
        <p14:creationId xmlns:p14="http://schemas.microsoft.com/office/powerpoint/2010/main" val="37948498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5AAF26-1394-6841-8B71-EE2C07082F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100E85-763C-FE4B-AB6A-3308A809A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Signs of Trauma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729413" y="1558925"/>
            <a:ext cx="3362325" cy="4167744"/>
          </a:xfrm>
        </p:spPr>
        <p:txBody>
          <a:bodyPr>
            <a:normAutofit lnSpcReduction="10000"/>
          </a:bodyPr>
          <a:lstStyle/>
          <a:p>
            <a:pPr>
              <a:spcAft>
                <a:spcPts val="450"/>
              </a:spcAft>
            </a:pPr>
            <a:r>
              <a:rPr lang="en-US" sz="2175" dirty="0"/>
              <a:t>Dissociative moments</a:t>
            </a:r>
          </a:p>
          <a:p>
            <a:pPr>
              <a:spcAft>
                <a:spcPts val="450"/>
              </a:spcAft>
            </a:pPr>
            <a:r>
              <a:rPr lang="en-US" sz="2175" dirty="0"/>
              <a:t>Sense of persecution</a:t>
            </a:r>
          </a:p>
          <a:p>
            <a:pPr>
              <a:spcAft>
                <a:spcPts val="450"/>
              </a:spcAft>
            </a:pPr>
            <a:r>
              <a:rPr lang="en-US" sz="2175" dirty="0"/>
              <a:t>Guilt</a:t>
            </a:r>
          </a:p>
          <a:p>
            <a:pPr>
              <a:spcAft>
                <a:spcPts val="450"/>
              </a:spcAft>
            </a:pPr>
            <a:r>
              <a:rPr lang="en-US" sz="2175" dirty="0"/>
              <a:t>Fear</a:t>
            </a:r>
          </a:p>
          <a:p>
            <a:pPr>
              <a:spcAft>
                <a:spcPts val="450"/>
              </a:spcAft>
            </a:pPr>
            <a:r>
              <a:rPr lang="en-US" sz="2175" dirty="0"/>
              <a:t>Can’t empathize, numbing</a:t>
            </a:r>
          </a:p>
          <a:p>
            <a:pPr>
              <a:spcAft>
                <a:spcPts val="450"/>
              </a:spcAft>
            </a:pPr>
            <a:r>
              <a:rPr lang="en-US" sz="2175" dirty="0"/>
              <a:t>Anger/Cynicism</a:t>
            </a:r>
          </a:p>
          <a:p>
            <a:pPr>
              <a:spcAft>
                <a:spcPts val="450"/>
              </a:spcAft>
            </a:pPr>
            <a:r>
              <a:rPr lang="en-US" sz="2175" dirty="0"/>
              <a:t>Addictions</a:t>
            </a:r>
          </a:p>
          <a:p>
            <a:pPr>
              <a:spcAft>
                <a:spcPts val="450"/>
              </a:spcAft>
            </a:pPr>
            <a:r>
              <a:rPr lang="en-US" sz="2175" dirty="0"/>
              <a:t>Grandiosity</a:t>
            </a:r>
          </a:p>
          <a:p>
            <a:pPr>
              <a:spcAft>
                <a:spcPts val="450"/>
              </a:spcAft>
            </a:pPr>
            <a:r>
              <a:rPr lang="en-US" sz="2175" dirty="0"/>
              <a:t>Isolation</a:t>
            </a:r>
          </a:p>
          <a:p>
            <a:pPr>
              <a:spcAft>
                <a:spcPts val="900"/>
              </a:spcAft>
            </a:pPr>
            <a:endParaRPr lang="en-US" dirty="0"/>
          </a:p>
          <a:p>
            <a:pPr>
              <a:spcAft>
                <a:spcPts val="900"/>
              </a:spcAft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904875" y="1558925"/>
            <a:ext cx="4124325" cy="38959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2180" dirty="0"/>
              <a:t>Feeling Helpless/Hopeless</a:t>
            </a:r>
          </a:p>
          <a:p>
            <a:pPr marL="285750" indent="-285750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2180" dirty="0"/>
              <a:t>Sense that you can never do enough</a:t>
            </a:r>
          </a:p>
          <a:p>
            <a:pPr marL="285750" indent="-285750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2180" dirty="0"/>
              <a:t>Hypervigilance</a:t>
            </a:r>
          </a:p>
          <a:p>
            <a:pPr marL="285750" indent="-285750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2180" dirty="0"/>
              <a:t>Diminished Creativity</a:t>
            </a:r>
          </a:p>
          <a:p>
            <a:pPr marL="285750" indent="-285750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2180" dirty="0"/>
              <a:t>Inability to embrace complexity</a:t>
            </a:r>
          </a:p>
          <a:p>
            <a:pPr marL="285750" indent="-285750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2180" dirty="0"/>
              <a:t>Minimizing</a:t>
            </a:r>
          </a:p>
          <a:p>
            <a:pPr marL="285750" indent="-285750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2180" dirty="0"/>
              <a:t>Chronic Exhaustion</a:t>
            </a:r>
          </a:p>
          <a:p>
            <a:pPr marL="285750" indent="-285750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2180" dirty="0"/>
              <a:t>Inability to listen/deliberate avoidance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065330" y="5584448"/>
            <a:ext cx="535005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000" dirty="0"/>
              <a:t>Deviations from Baseline</a:t>
            </a:r>
          </a:p>
        </p:txBody>
      </p:sp>
    </p:spTree>
    <p:extLst>
      <p:ext uri="{BB962C8B-B14F-4D97-AF65-F5344CB8AC3E}">
        <p14:creationId xmlns:p14="http://schemas.microsoft.com/office/powerpoint/2010/main" val="38041786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AFBDC8-B3D1-4E40-85A9-686C8641B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D900A1-CCC4-C447-BDCF-1E822D5DA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Back to Baseline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7B869C7-3CB2-404E-A358-0A96F1377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524" y="1562100"/>
            <a:ext cx="10810875" cy="4795838"/>
          </a:xfrm>
        </p:spPr>
        <p:txBody>
          <a:bodyPr numCol="2">
            <a:normAutofit fontScale="62500" lnSpcReduction="20000"/>
          </a:bodyPr>
          <a:lstStyle/>
          <a:p>
            <a:r>
              <a:rPr lang="en-US" dirty="0"/>
              <a:t> Eat something that is good for me</a:t>
            </a:r>
          </a:p>
          <a:p>
            <a:r>
              <a:rPr lang="en-US" dirty="0"/>
              <a:t>Have a cup of coffee or tea</a:t>
            </a:r>
          </a:p>
          <a:p>
            <a:r>
              <a:rPr lang="en-US" dirty="0"/>
              <a:t>Therapy</a:t>
            </a:r>
          </a:p>
          <a:p>
            <a:r>
              <a:rPr lang="en-US" dirty="0"/>
              <a:t>Doctor/naturopath</a:t>
            </a:r>
          </a:p>
          <a:p>
            <a:r>
              <a:rPr lang="en-US" dirty="0"/>
              <a:t>Talking and more talking</a:t>
            </a:r>
          </a:p>
          <a:p>
            <a:r>
              <a:rPr lang="en-US" dirty="0"/>
              <a:t>No upsetting movies, books, etc.</a:t>
            </a:r>
          </a:p>
          <a:p>
            <a:r>
              <a:rPr lang="en-US" dirty="0"/>
              <a:t>Taking medications</a:t>
            </a:r>
          </a:p>
          <a:p>
            <a:r>
              <a:rPr lang="en-US" dirty="0"/>
              <a:t>Sleep for 8 hours</a:t>
            </a:r>
          </a:p>
          <a:p>
            <a:r>
              <a:rPr lang="en-US" dirty="0"/>
              <a:t>Accomplish something small</a:t>
            </a:r>
          </a:p>
          <a:p>
            <a:r>
              <a:rPr lang="en-US" dirty="0"/>
              <a:t>Cry </a:t>
            </a:r>
          </a:p>
          <a:p>
            <a:r>
              <a:rPr lang="en-US" dirty="0"/>
              <a:t>Massage pillow or get a massage</a:t>
            </a:r>
          </a:p>
          <a:p>
            <a:r>
              <a:rPr lang="en-US" dirty="0"/>
              <a:t>Take a bubble bath or hot shower</a:t>
            </a:r>
          </a:p>
          <a:p>
            <a:r>
              <a:rPr lang="en-US" dirty="0"/>
              <a:t>Listen to a favorite audio book, read, watch a favorite movie</a:t>
            </a:r>
          </a:p>
          <a:p>
            <a:r>
              <a:rPr lang="en-US" dirty="0"/>
              <a:t>Sing or dance</a:t>
            </a:r>
          </a:p>
          <a:p>
            <a:r>
              <a:rPr lang="en-US" dirty="0"/>
              <a:t>Do an enjoyable exercise (yoga, walking, gym)</a:t>
            </a:r>
          </a:p>
          <a:p>
            <a:r>
              <a:rPr lang="en-US" dirty="0"/>
              <a:t>Spend time outside</a:t>
            </a:r>
          </a:p>
          <a:p>
            <a:r>
              <a:rPr lang="en-US" dirty="0"/>
              <a:t>Pray or meditate</a:t>
            </a:r>
          </a:p>
          <a:p>
            <a:r>
              <a:rPr lang="en-US" dirty="0"/>
              <a:t>Take a nap</a:t>
            </a:r>
          </a:p>
          <a:p>
            <a:r>
              <a:rPr lang="en-US" dirty="0"/>
              <a:t>Listen to music</a:t>
            </a:r>
          </a:p>
          <a:p>
            <a:r>
              <a:rPr lang="en-US" dirty="0"/>
              <a:t>Paint, draw, arts &amp; crafts</a:t>
            </a:r>
          </a:p>
          <a:p>
            <a:r>
              <a:rPr lang="en-US" dirty="0"/>
              <a:t>Gardening</a:t>
            </a:r>
          </a:p>
          <a:p>
            <a:r>
              <a:rPr lang="en-US" dirty="0"/>
              <a:t>Being alone/resting</a:t>
            </a:r>
          </a:p>
          <a:p>
            <a:r>
              <a:rPr lang="en-US" dirty="0"/>
              <a:t>Make a list of your favorite things</a:t>
            </a:r>
          </a:p>
          <a:p>
            <a:r>
              <a:rPr lang="en-US" dirty="0"/>
              <a:t>Spend time with your pet</a:t>
            </a:r>
          </a:p>
          <a:p>
            <a:r>
              <a:rPr lang="en-US" dirty="0"/>
              <a:t>Talk to someone who will get it</a:t>
            </a:r>
          </a:p>
          <a:p>
            <a:r>
              <a:rPr lang="en-US" dirty="0"/>
              <a:t>Write in journal</a:t>
            </a:r>
          </a:p>
          <a:p>
            <a:r>
              <a:rPr lang="en-US" dirty="0"/>
              <a:t>Retail therapy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08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AFBDC8-B3D1-4E40-85A9-686C8641B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D900A1-CCC4-C447-BDCF-1E822D5DA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7B869C7-3CB2-404E-A358-0A96F1377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524" y="1562100"/>
            <a:ext cx="10810875" cy="47958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2149954" y="2639318"/>
            <a:ext cx="789209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09537" indent="0" algn="ctr">
              <a:buNone/>
            </a:pPr>
            <a:r>
              <a:rPr lang="en-US" sz="5400" dirty="0"/>
              <a:t>What can you do about it? </a:t>
            </a:r>
          </a:p>
        </p:txBody>
      </p:sp>
    </p:spTree>
    <p:extLst>
      <p:ext uri="{BB962C8B-B14F-4D97-AF65-F5344CB8AC3E}">
        <p14:creationId xmlns:p14="http://schemas.microsoft.com/office/powerpoint/2010/main" val="42748851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AFBDC8-B3D1-4E40-85A9-686C8641B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D900A1-CCC4-C447-BDCF-1E822D5DA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</a:t>
            </a:r>
            <a:br>
              <a:rPr lang="en-US" dirty="0"/>
            </a:b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7B869C7-3CB2-404E-A358-0A96F1377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524" y="1562100"/>
            <a:ext cx="10810875" cy="47958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309" y="1027906"/>
            <a:ext cx="6519861" cy="4895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9284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AFBDC8-B3D1-4E40-85A9-686C8641B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D900A1-CCC4-C447-BDCF-1E822D5DA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7B869C7-3CB2-404E-A358-0A96F1377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524" y="1562100"/>
            <a:ext cx="10810875" cy="47958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GdtG3Arw4FU"/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4989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AFBDC8-B3D1-4E40-85A9-686C8641B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D900A1-CCC4-C447-BDCF-1E822D5DA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Managing Trauma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7B869C7-3CB2-404E-A358-0A96F1377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524" y="1400175"/>
            <a:ext cx="10810875" cy="4795838"/>
          </a:xfrm>
        </p:spPr>
        <p:txBody>
          <a:bodyPr>
            <a:normAutofit fontScale="92500" lnSpcReduction="10000"/>
          </a:bodyPr>
          <a:lstStyle/>
          <a:p>
            <a:pPr marL="392113" lvl="1" indent="0" algn="ctr">
              <a:buNone/>
            </a:pPr>
            <a:r>
              <a:rPr lang="en-US" dirty="0"/>
              <a:t> </a:t>
            </a:r>
            <a:r>
              <a:rPr lang="en-US" sz="3600" dirty="0"/>
              <a:t>Ask Yourself:</a:t>
            </a:r>
          </a:p>
          <a:p>
            <a:pPr marL="392113" lvl="1" indent="0" algn="ctr">
              <a:buNone/>
            </a:pPr>
            <a:endParaRPr lang="en-US" sz="3600" dirty="0"/>
          </a:p>
          <a:p>
            <a:pPr marL="392113" lvl="1" indent="0" algn="ctr">
              <a:buNone/>
            </a:pPr>
            <a:r>
              <a:rPr lang="en-US" sz="2600" dirty="0"/>
              <a:t>Are you managing your trauma or it managing you?</a:t>
            </a:r>
          </a:p>
          <a:p>
            <a:pPr marL="392113" lvl="1" indent="0" algn="ctr">
              <a:lnSpc>
                <a:spcPct val="150000"/>
              </a:lnSpc>
              <a:buNone/>
            </a:pPr>
            <a:r>
              <a:rPr lang="en-US" sz="2600" dirty="0"/>
              <a:t>Why do I do this job?</a:t>
            </a:r>
          </a:p>
          <a:p>
            <a:pPr marL="392113" lvl="1" indent="0" algn="ctr">
              <a:lnSpc>
                <a:spcPct val="150000"/>
              </a:lnSpc>
              <a:buNone/>
            </a:pPr>
            <a:r>
              <a:rPr lang="en-US" sz="2600" dirty="0"/>
              <a:t>Is it working for me?</a:t>
            </a:r>
          </a:p>
          <a:p>
            <a:pPr marL="392113" lvl="1" indent="0" algn="ctr">
              <a:lnSpc>
                <a:spcPct val="150000"/>
              </a:lnSpc>
              <a:buNone/>
            </a:pPr>
            <a:r>
              <a:rPr lang="en-US" sz="2600" dirty="0"/>
              <a:t>Am I OK?</a:t>
            </a:r>
          </a:p>
          <a:p>
            <a:pPr marL="392113" lvl="1" indent="0" algn="ctr">
              <a:lnSpc>
                <a:spcPct val="150000"/>
              </a:lnSpc>
              <a:buNone/>
            </a:pPr>
            <a:r>
              <a:rPr lang="en-US" sz="2600" dirty="0"/>
              <a:t>Why do I feel this?</a:t>
            </a:r>
          </a:p>
          <a:p>
            <a:pPr marL="392113" lvl="1" indent="0" algn="ctr">
              <a:lnSpc>
                <a:spcPct val="150000"/>
              </a:lnSpc>
              <a:buNone/>
            </a:pPr>
            <a:r>
              <a:rPr lang="en-US" sz="2600" dirty="0"/>
              <a:t>What am I doing nice for myself?</a:t>
            </a:r>
          </a:p>
          <a:p>
            <a:pPr marL="392113" lvl="1" indent="0" algn="ctr">
              <a:lnSpc>
                <a:spcPct val="150000"/>
              </a:lnSpc>
              <a:buNone/>
            </a:pPr>
            <a:r>
              <a:rPr lang="en-US" sz="2600" dirty="0"/>
              <a:t>Am I numbing?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7445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AFBDC8-B3D1-4E40-85A9-686C8641B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D900A1-CCC4-C447-BDCF-1E822D5DA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Should ask Yourself…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7B869C7-3CB2-404E-A358-0A96F1377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524" y="1562100"/>
            <a:ext cx="10810875" cy="4795838"/>
          </a:xfrm>
        </p:spPr>
        <p:txBody>
          <a:bodyPr>
            <a:normAutofit lnSpcReduction="10000"/>
          </a:bodyPr>
          <a:lstStyle/>
          <a:p>
            <a:pPr marL="109537" indent="0" algn="ctr">
              <a:buNone/>
            </a:pPr>
            <a:r>
              <a:rPr lang="en-US" dirty="0"/>
              <a:t> How’s my health?</a:t>
            </a:r>
          </a:p>
          <a:p>
            <a:pPr marL="109537" indent="0" algn="ctr">
              <a:buNone/>
            </a:pPr>
            <a:endParaRPr lang="en-US" dirty="0"/>
          </a:p>
          <a:p>
            <a:pPr marL="109537" indent="0" algn="ctr">
              <a:buNone/>
            </a:pPr>
            <a:r>
              <a:rPr lang="en-US" dirty="0"/>
              <a:t>How are my professional relationships?</a:t>
            </a:r>
          </a:p>
          <a:p>
            <a:pPr marL="109537" indent="0" algn="ctr">
              <a:buNone/>
            </a:pPr>
            <a:endParaRPr lang="en-US" dirty="0"/>
          </a:p>
          <a:p>
            <a:pPr marL="109537" indent="0" algn="ctr">
              <a:buNone/>
            </a:pPr>
            <a:r>
              <a:rPr lang="en-US" dirty="0"/>
              <a:t>How’s my personal life?  </a:t>
            </a:r>
          </a:p>
          <a:p>
            <a:pPr marL="109537" indent="0" algn="ctr">
              <a:buNone/>
            </a:pPr>
            <a:endParaRPr lang="en-US" dirty="0"/>
          </a:p>
          <a:p>
            <a:pPr marL="109537" indent="0" algn="ctr">
              <a:buNone/>
            </a:pPr>
            <a:r>
              <a:rPr lang="en-US" dirty="0"/>
              <a:t>Is my job worth a tattoo?</a:t>
            </a:r>
            <a:br>
              <a:rPr lang="en-US" dirty="0"/>
            </a:br>
            <a:endParaRPr lang="en-US" dirty="0"/>
          </a:p>
          <a:p>
            <a:pPr marL="109537" indent="0" algn="ctr">
              <a:buNone/>
            </a:pPr>
            <a:r>
              <a:rPr lang="en-US" dirty="0"/>
              <a:t>(Your job is part of your identity, </a:t>
            </a:r>
          </a:p>
          <a:p>
            <a:pPr marL="109537" indent="0" algn="ctr">
              <a:buNone/>
            </a:pPr>
            <a:r>
              <a:rPr lang="en-US" dirty="0"/>
              <a:t>not your whole identity)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2255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AFBDC8-B3D1-4E40-85A9-686C8641B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D900A1-CCC4-C447-BDCF-1E822D5DA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Can We Do?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7B869C7-3CB2-404E-A358-0A96F1377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524" y="1562100"/>
            <a:ext cx="10810875" cy="4795838"/>
          </a:xfrm>
        </p:spPr>
        <p:txBody>
          <a:bodyPr>
            <a:normAutofit lnSpcReduction="10000"/>
          </a:bodyPr>
          <a:lstStyle/>
          <a:p>
            <a:pPr marL="109537" indent="0" algn="ctr">
              <a:buNone/>
            </a:pPr>
            <a:r>
              <a:rPr lang="en-US" dirty="0"/>
              <a:t> Therapy/Medical Care</a:t>
            </a:r>
          </a:p>
          <a:p>
            <a:pPr marL="109537" indent="0" algn="ctr">
              <a:buNone/>
            </a:pPr>
            <a:endParaRPr lang="en-US" dirty="0"/>
          </a:p>
          <a:p>
            <a:pPr marL="109537" indent="0" algn="ctr">
              <a:buNone/>
            </a:pPr>
            <a:r>
              <a:rPr lang="en-US" dirty="0"/>
              <a:t>Community </a:t>
            </a:r>
          </a:p>
          <a:p>
            <a:pPr marL="109537" indent="0" algn="ctr">
              <a:buNone/>
            </a:pPr>
            <a:r>
              <a:rPr lang="en-US" dirty="0"/>
              <a:t>(Religious, Recreational, Family, etc.)</a:t>
            </a:r>
          </a:p>
          <a:p>
            <a:pPr algn="ctr"/>
            <a:endParaRPr lang="en-US" dirty="0"/>
          </a:p>
          <a:p>
            <a:pPr marL="109537" indent="0" algn="ctr">
              <a:buNone/>
            </a:pPr>
            <a:r>
              <a:rPr lang="en-US" dirty="0"/>
              <a:t>Self-Care</a:t>
            </a:r>
          </a:p>
          <a:p>
            <a:pPr marL="109537" indent="0" algn="ctr">
              <a:buNone/>
            </a:pPr>
            <a:endParaRPr lang="en-US" dirty="0"/>
          </a:p>
          <a:p>
            <a:pPr marL="109537" indent="0" algn="ctr">
              <a:buNone/>
            </a:pPr>
            <a:r>
              <a:rPr lang="en-US" dirty="0"/>
              <a:t>Identify and Mitigate “Triggers”</a:t>
            </a:r>
          </a:p>
          <a:p>
            <a:pPr marL="109537" indent="0">
              <a:buNone/>
            </a:pPr>
            <a:endParaRPr lang="en-US" dirty="0"/>
          </a:p>
          <a:p>
            <a:pPr marL="109537" indent="0" algn="ctr">
              <a:buNone/>
            </a:pPr>
            <a:r>
              <a:rPr lang="en-US" dirty="0"/>
              <a:t>Find what works for you, not someone else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8067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4550" y="163856"/>
            <a:ext cx="7886700" cy="994172"/>
          </a:xfrm>
        </p:spPr>
        <p:txBody>
          <a:bodyPr/>
          <a:lstStyle/>
          <a:p>
            <a:pPr algn="ctr"/>
            <a:r>
              <a:rPr lang="en-US" b="1" dirty="0"/>
              <a:t>Exploring Potential Supports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6314878"/>
              </p:ext>
            </p:extLst>
          </p:nvPr>
        </p:nvGraphicFramePr>
        <p:xfrm>
          <a:off x="1930399" y="1049153"/>
          <a:ext cx="8580387" cy="53998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64353">
                  <a:extLst>
                    <a:ext uri="{9D8B030D-6E8A-4147-A177-3AD203B41FA5}">
                      <a16:colId xmlns:a16="http://schemas.microsoft.com/office/drawing/2014/main" val="1521388371"/>
                    </a:ext>
                  </a:extLst>
                </a:gridCol>
                <a:gridCol w="5516034">
                  <a:extLst>
                    <a:ext uri="{9D8B030D-6E8A-4147-A177-3AD203B41FA5}">
                      <a16:colId xmlns:a16="http://schemas.microsoft.com/office/drawing/2014/main" val="1660750639"/>
                    </a:ext>
                  </a:extLst>
                </a:gridCol>
              </a:tblGrid>
              <a:tr h="26617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Domain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Potential supporters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2807710286"/>
                  </a:ext>
                </a:extLst>
              </a:tr>
              <a:tr h="5403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Physical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effectLst/>
                        </a:rPr>
                        <a:t>Physician                      Naturopath</a:t>
                      </a:r>
                    </a:p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effectLst/>
                        </a:rPr>
                        <a:t>Personal trainer          Gym membership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4241453974"/>
                  </a:ext>
                </a:extLst>
              </a:tr>
              <a:tr h="5403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Emotional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Therapist                      Group therapy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Psychiatrist                   Employee Assistance Program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2287204"/>
                  </a:ext>
                </a:extLst>
              </a:tr>
              <a:tr h="5403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Spiritual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Religious groups          Attendance to spiritual ceremony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Yoga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657109570"/>
                  </a:ext>
                </a:extLst>
              </a:tr>
              <a:tr h="5403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Financial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Financial advisors        Community college courses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Online courses             Banking systems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2545757505"/>
                  </a:ext>
                </a:extLst>
              </a:tr>
              <a:tr h="5403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Environmental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Decorator                     Designer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Family                            Friends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664075912"/>
                  </a:ext>
                </a:extLst>
              </a:tr>
              <a:tr h="108078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Occupational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Employee Assistance Program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Job coaching support 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Mentor   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Supervisor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Peers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3475849820"/>
                  </a:ext>
                </a:extLst>
              </a:tr>
              <a:tr h="81058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Social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Friends                          Family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Intimate partners        Neighborhood gatherings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Community events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50811790"/>
                  </a:ext>
                </a:extLst>
              </a:tr>
              <a:tr h="5403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Intellectual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Life coach                     Mentor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Family                           Friends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3824102782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8020050" y="6449049"/>
            <a:ext cx="4619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DDA Secondary Trauma PPT - Hernandez</a:t>
            </a:r>
          </a:p>
        </p:txBody>
      </p:sp>
    </p:spTree>
    <p:extLst>
      <p:ext uri="{BB962C8B-B14F-4D97-AF65-F5344CB8AC3E}">
        <p14:creationId xmlns:p14="http://schemas.microsoft.com/office/powerpoint/2010/main" val="21780647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B962305-C037-B847-B903-997D03057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DE6440-7497-D449-8A78-A92866A40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947263" cy="1325563"/>
          </a:xfrm>
        </p:spPr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D855924-A6E4-C24B-B34F-F2D613017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229"/>
            <a:ext cx="6947263" cy="4235541"/>
          </a:xfrm>
        </p:spPr>
        <p:txBody>
          <a:bodyPr>
            <a:normAutofit fontScale="92500" lnSpcReduction="10000"/>
          </a:bodyPr>
          <a:lstStyle/>
          <a:p>
            <a:endParaRPr lang="en-US" dirty="0"/>
          </a:p>
          <a:p>
            <a:r>
              <a:rPr lang="en-US" dirty="0"/>
              <a:t>Small Group Exercise (3-4 people):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What is one thing you can think of that you want to change?</a:t>
            </a:r>
          </a:p>
          <a:p>
            <a:pPr marL="392113" lvl="1" indent="0">
              <a:buNone/>
            </a:pPr>
            <a:endParaRPr lang="en-US" dirty="0"/>
          </a:p>
          <a:p>
            <a:pPr lvl="1"/>
            <a:r>
              <a:rPr lang="en-US" dirty="0"/>
              <a:t>Are there any barriers to making this change?</a:t>
            </a:r>
          </a:p>
          <a:p>
            <a:pPr lvl="1" indent="233363"/>
            <a:r>
              <a:rPr lang="en-US" sz="2200" dirty="0"/>
              <a:t>Are they real or perceived</a:t>
            </a:r>
            <a:r>
              <a:rPr lang="en-US" sz="1800" dirty="0"/>
              <a:t>?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What do you need to defeat those barriers?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What is the solution?</a:t>
            </a:r>
          </a:p>
        </p:txBody>
      </p:sp>
    </p:spTree>
    <p:extLst>
      <p:ext uri="{BB962C8B-B14F-4D97-AF65-F5344CB8AC3E}">
        <p14:creationId xmlns:p14="http://schemas.microsoft.com/office/powerpoint/2010/main" val="24239506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AFBDC8-B3D1-4E40-85A9-686C8641B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D900A1-CCC4-C447-BDCF-1E822D5DA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7B869C7-3CB2-404E-A358-0A96F1377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524" y="1562100"/>
            <a:ext cx="10810875" cy="4795838"/>
          </a:xfrm>
        </p:spPr>
        <p:txBody>
          <a:bodyPr>
            <a:normAutofit/>
          </a:bodyPr>
          <a:lstStyle/>
          <a:p>
            <a:r>
              <a:rPr lang="en-US" dirty="0"/>
              <a:t> Be True to Yourself</a:t>
            </a:r>
          </a:p>
          <a:p>
            <a:pPr lvl="1"/>
            <a:r>
              <a:rPr lang="en-US" dirty="0"/>
              <a:t>Vulnerability leads to positive relationships</a:t>
            </a:r>
          </a:p>
          <a:p>
            <a:pPr lvl="1"/>
            <a:endParaRPr lang="en-US" dirty="0"/>
          </a:p>
          <a:p>
            <a:r>
              <a:rPr lang="en-US" dirty="0"/>
              <a:t>Studies show the only thing that is of constant value in life is relationships</a:t>
            </a:r>
          </a:p>
          <a:p>
            <a:endParaRPr lang="en-US" dirty="0"/>
          </a:p>
          <a:p>
            <a:r>
              <a:rPr lang="en-US" dirty="0"/>
              <a:t>Validate the emotions of others; even if you don’t think the problem is real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7269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AFBDC8-B3D1-4E40-85A9-686C8641B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D900A1-CCC4-C447-BDCF-1E822D5DA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7B869C7-3CB2-404E-A358-0A96F1377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524" y="1562100"/>
            <a:ext cx="10810875" cy="47958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-4EDhdAHrOg"/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268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1798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AFBDC8-B3D1-4E40-85A9-686C8641B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D900A1-CCC4-C447-BDCF-1E822D5DA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can we do?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7B869C7-3CB2-404E-A358-0A96F1377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524" y="1562100"/>
            <a:ext cx="10810875" cy="4795838"/>
          </a:xfrm>
        </p:spPr>
        <p:txBody>
          <a:bodyPr>
            <a:normAutofit/>
          </a:bodyPr>
          <a:lstStyle/>
          <a:p>
            <a:r>
              <a:rPr lang="en-US" dirty="0"/>
              <a:t>Acknowledge the incident</a:t>
            </a:r>
          </a:p>
          <a:p>
            <a:r>
              <a:rPr lang="en-US" dirty="0"/>
              <a:t>Listen, avoid questions, let them talk</a:t>
            </a:r>
          </a:p>
          <a:p>
            <a:r>
              <a:rPr lang="en-US" dirty="0"/>
              <a:t>If you don’t know what to do, be present and kind</a:t>
            </a:r>
          </a:p>
          <a:p>
            <a:r>
              <a:rPr lang="en-US" dirty="0"/>
              <a:t>Don’t avoid</a:t>
            </a:r>
          </a:p>
          <a:p>
            <a:r>
              <a:rPr lang="en-US" dirty="0"/>
              <a:t>Give concrete support:</a:t>
            </a:r>
          </a:p>
          <a:p>
            <a:pPr lvl="1"/>
            <a:r>
              <a:rPr lang="en-US" dirty="0"/>
              <a:t>Walk, give a ride home, feed them</a:t>
            </a:r>
          </a:p>
          <a:p>
            <a:r>
              <a:rPr lang="en-US" dirty="0"/>
              <a:t>If distress is prolonged; encourage them to get help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2933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AFBDC8-B3D1-4E40-85A9-686C8641B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D900A1-CCC4-C447-BDCF-1E822D5DA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Thoughts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7B869C7-3CB2-404E-A358-0A96F1377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524" y="1562100"/>
            <a:ext cx="10810875" cy="4795838"/>
          </a:xfrm>
        </p:spPr>
        <p:txBody>
          <a:bodyPr>
            <a:normAutofit/>
          </a:bodyPr>
          <a:lstStyle/>
          <a:p>
            <a:r>
              <a:rPr lang="en-US" dirty="0"/>
              <a:t> Be Patient</a:t>
            </a:r>
          </a:p>
          <a:p>
            <a:pPr lvl="1"/>
            <a:r>
              <a:rPr lang="en-US" dirty="0"/>
              <a:t>We are not super heroes. Change takes work and time</a:t>
            </a:r>
          </a:p>
          <a:p>
            <a:endParaRPr lang="en-US" dirty="0"/>
          </a:p>
          <a:p>
            <a:r>
              <a:rPr lang="en-US" dirty="0"/>
              <a:t>Balance work, life, self. Find what makes YOU happy; what makes YOU feel better</a:t>
            </a:r>
          </a:p>
          <a:p>
            <a:endParaRPr lang="en-US" dirty="0"/>
          </a:p>
          <a:p>
            <a:r>
              <a:rPr lang="en-US" dirty="0"/>
              <a:t>Boundaries are important</a:t>
            </a:r>
          </a:p>
          <a:p>
            <a:endParaRPr lang="en-US" dirty="0"/>
          </a:p>
          <a:p>
            <a:r>
              <a:rPr lang="en-US" dirty="0"/>
              <a:t>Learn what you need to be successful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41743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B962305-C037-B847-B903-997D03057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DE6440-7497-D449-8A78-A92866A40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947263" cy="13255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D855924-A6E4-C24B-B34F-F2D613017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8688"/>
            <a:ext cx="6947263" cy="4235541"/>
          </a:xfrm>
        </p:spPr>
        <p:txBody>
          <a:bodyPr>
            <a:normAutofit/>
          </a:bodyPr>
          <a:lstStyle/>
          <a:p>
            <a:pPr marL="109537" indent="0" algn="ctr">
              <a:buNone/>
            </a:pPr>
            <a:r>
              <a:rPr lang="en-US" sz="4400" dirty="0"/>
              <a:t>Be nice to yourself</a:t>
            </a:r>
          </a:p>
          <a:p>
            <a:pPr marL="109537" indent="0" algn="ctr">
              <a:buNone/>
            </a:pPr>
            <a:endParaRPr lang="en-US" sz="4400" dirty="0"/>
          </a:p>
          <a:p>
            <a:pPr marL="109537" indent="0" algn="ctr">
              <a:buNone/>
            </a:pPr>
            <a:r>
              <a:rPr lang="en-US" sz="4400" dirty="0"/>
              <a:t>Give yourself permission </a:t>
            </a:r>
          </a:p>
          <a:p>
            <a:pPr marL="109537" indent="0" algn="ctr">
              <a:buNone/>
            </a:pPr>
            <a:r>
              <a:rPr lang="en-US" sz="4400" dirty="0"/>
              <a:t>to be happy</a:t>
            </a:r>
          </a:p>
        </p:txBody>
      </p:sp>
    </p:spTree>
    <p:extLst>
      <p:ext uri="{BB962C8B-B14F-4D97-AF65-F5344CB8AC3E}">
        <p14:creationId xmlns:p14="http://schemas.microsoft.com/office/powerpoint/2010/main" val="13818687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B962305-C037-B847-B903-997D03057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DE6440-7497-D449-8A78-A92866A40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947263" cy="13255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D855924-A6E4-C24B-B34F-F2D613017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8688"/>
            <a:ext cx="6947263" cy="4235541"/>
          </a:xfrm>
        </p:spPr>
        <p:txBody>
          <a:bodyPr>
            <a:normAutofit/>
          </a:bodyPr>
          <a:lstStyle/>
          <a:p>
            <a:pPr marL="109537" indent="0" algn="ctr">
              <a:buNone/>
            </a:pPr>
            <a:endParaRPr lang="en-US" dirty="0"/>
          </a:p>
          <a:p>
            <a:pPr marL="109537" indent="0" algn="ctr">
              <a:buNone/>
            </a:pPr>
            <a:endParaRPr lang="en-US" dirty="0"/>
          </a:p>
          <a:p>
            <a:pPr marL="109537" indent="0" algn="ctr">
              <a:buNone/>
            </a:pPr>
            <a:r>
              <a:rPr lang="en-US" dirty="0"/>
              <a:t>Put yourself in a position where you are able to lead with your training; </a:t>
            </a:r>
          </a:p>
          <a:p>
            <a:pPr marL="109537" indent="0" algn="ctr">
              <a:buNone/>
            </a:pPr>
            <a:r>
              <a:rPr lang="en-US" u="sng" dirty="0"/>
              <a:t>Not With Your Trauma!</a:t>
            </a:r>
          </a:p>
        </p:txBody>
      </p:sp>
    </p:spTree>
    <p:extLst>
      <p:ext uri="{BB962C8B-B14F-4D97-AF65-F5344CB8AC3E}">
        <p14:creationId xmlns:p14="http://schemas.microsoft.com/office/powerpoint/2010/main" val="39876774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B962305-C037-B847-B903-997D03057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DE6440-7497-D449-8A78-A92866A40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947263" cy="1325563"/>
          </a:xfrm>
        </p:spPr>
        <p:txBody>
          <a:bodyPr/>
          <a:lstStyle/>
          <a:p>
            <a:r>
              <a:rPr lang="en-US" dirty="0"/>
              <a:t>It Works Out…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35705" y="1268308"/>
            <a:ext cx="3280040" cy="491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9768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F4A38F-8A55-E84A-8FCD-43E948901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F65888-1DD0-B346-959C-3B710A1BD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2599"/>
            <a:ext cx="10515600" cy="1325563"/>
          </a:xfrm>
        </p:spPr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0363C-98CF-8945-9BC1-3DC58D9834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0761"/>
            <a:ext cx="10515600" cy="4142905"/>
          </a:xfrm>
        </p:spPr>
        <p:txBody>
          <a:bodyPr/>
          <a:lstStyle/>
          <a:p>
            <a:pPr marL="109537" indent="0" algn="ctr">
              <a:buNone/>
            </a:pPr>
            <a:r>
              <a:rPr lang="en-US" dirty="0"/>
              <a:t>Full Resource List will be Made Available</a:t>
            </a:r>
          </a:p>
          <a:p>
            <a:r>
              <a:rPr lang="en-US" dirty="0"/>
              <a:t>Employee Assistant Program (EAP)</a:t>
            </a:r>
          </a:p>
          <a:p>
            <a:pPr lvl="1"/>
            <a:r>
              <a:rPr lang="en-US" dirty="0"/>
              <a:t>877-313-4455</a:t>
            </a:r>
          </a:p>
          <a:p>
            <a:r>
              <a:rPr lang="en-US" dirty="0"/>
              <a:t>Internet Resources</a:t>
            </a:r>
          </a:p>
          <a:p>
            <a:pPr lvl="1"/>
            <a:r>
              <a:rPr lang="en-US" dirty="0"/>
              <a:t>Ted Talks</a:t>
            </a:r>
          </a:p>
          <a:p>
            <a:r>
              <a:rPr lang="en-US" dirty="0"/>
              <a:t>211</a:t>
            </a:r>
          </a:p>
          <a:p>
            <a:r>
              <a:rPr lang="en-US" dirty="0"/>
              <a:t>Crisis Clinic (800-273-8255)</a:t>
            </a:r>
          </a:p>
        </p:txBody>
      </p:sp>
    </p:spTree>
    <p:extLst>
      <p:ext uri="{BB962C8B-B14F-4D97-AF65-F5344CB8AC3E}">
        <p14:creationId xmlns:p14="http://schemas.microsoft.com/office/powerpoint/2010/main" val="27815257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B962305-C037-B847-B903-997D03057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DE6440-7497-D449-8A78-A92866A40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947263" cy="1325563"/>
          </a:xfrm>
        </p:spPr>
        <p:txBody>
          <a:bodyPr/>
          <a:lstStyle/>
          <a:p>
            <a:r>
              <a:rPr lang="en-US" dirty="0"/>
              <a:t>Additional Trainings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D855924-A6E4-C24B-B34F-F2D613017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8688"/>
            <a:ext cx="6947263" cy="4235541"/>
          </a:xfrm>
        </p:spPr>
        <p:txBody>
          <a:bodyPr/>
          <a:lstStyle/>
          <a:p>
            <a:r>
              <a:rPr lang="en-US" dirty="0"/>
              <a:t>De-escalation communications</a:t>
            </a:r>
          </a:p>
          <a:p>
            <a:r>
              <a:rPr lang="en-US" dirty="0"/>
              <a:t>Active Threat</a:t>
            </a:r>
          </a:p>
          <a:p>
            <a:r>
              <a:rPr lang="en-US" dirty="0"/>
              <a:t>Crisis Management/Workplace Security</a:t>
            </a:r>
          </a:p>
          <a:p>
            <a:r>
              <a:rPr lang="en-US" dirty="0"/>
              <a:t>Stop the Bleed</a:t>
            </a:r>
          </a:p>
          <a:p>
            <a:r>
              <a:rPr lang="en-US" dirty="0"/>
              <a:t>Narcan in the Field</a:t>
            </a:r>
          </a:p>
        </p:txBody>
      </p:sp>
    </p:spTree>
    <p:extLst>
      <p:ext uri="{BB962C8B-B14F-4D97-AF65-F5344CB8AC3E}">
        <p14:creationId xmlns:p14="http://schemas.microsoft.com/office/powerpoint/2010/main" val="32591148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74E8767-550D-674C-B25C-3B3011BA3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596098-04D0-FE4E-9B53-5E469CD5C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627076" cy="1290680"/>
          </a:xfrm>
        </p:spPr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F728E-1C65-D04B-9384-0F180D85F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Click to add text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00175"/>
            <a:ext cx="12192000" cy="5493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8993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F82AC8-4B21-4440-AF6E-6CAF9E43F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F65888-1DD0-B346-959C-3B710A1BD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2599"/>
            <a:ext cx="6973389" cy="1325563"/>
          </a:xfrm>
        </p:spPr>
        <p:txBody>
          <a:bodyPr/>
          <a:lstStyle/>
          <a:p>
            <a:r>
              <a:rPr lang="en-US" dirty="0"/>
              <a:t>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0363C-98CF-8945-9BC1-3DC58D9834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9701"/>
            <a:ext cx="11353800" cy="465146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BECKER, G. D. (1997). </a:t>
            </a:r>
            <a:r>
              <a:rPr lang="en-US" i="1" dirty="0"/>
              <a:t>The gift of fear</a:t>
            </a:r>
            <a:r>
              <a:rPr lang="en-US" dirty="0"/>
              <a:t>. Bloomsbury.</a:t>
            </a:r>
          </a:p>
          <a:p>
            <a:r>
              <a:rPr lang="en-US" dirty="0"/>
              <a:t>Gapsch, D. (</a:t>
            </a:r>
            <a:r>
              <a:rPr lang="en-US" dirty="0" err="1"/>
              <a:t>n.d.</a:t>
            </a:r>
            <a:r>
              <a:rPr lang="en-US" dirty="0"/>
              <a:t>). </a:t>
            </a:r>
            <a:r>
              <a:rPr lang="en-US" i="1" dirty="0"/>
              <a:t>Trauma and Resiliency</a:t>
            </a:r>
            <a:r>
              <a:rPr lang="en-US" dirty="0"/>
              <a:t>. Lecture presented at NEO Training in WSH, Lakewood.</a:t>
            </a:r>
          </a:p>
          <a:p>
            <a:r>
              <a:rPr lang="en-US" dirty="0"/>
              <a:t>“It's Not About the Nail.” </a:t>
            </a:r>
            <a:r>
              <a:rPr lang="en-US" i="1" dirty="0"/>
              <a:t>IMDb</a:t>
            </a:r>
            <a:r>
              <a:rPr lang="en-US" dirty="0"/>
              <a:t>, IMDb.com, 22 May 2013, www.imdb.com/title/tt3027304/. </a:t>
            </a:r>
          </a:p>
          <a:p>
            <a:r>
              <a:rPr lang="en-US" dirty="0" err="1"/>
              <a:t>Lipsky</a:t>
            </a:r>
            <a:r>
              <a:rPr lang="en-US" dirty="0"/>
              <a:t>, L. V., &amp; Burk, C. (2009). </a:t>
            </a:r>
            <a:r>
              <a:rPr lang="en-US" i="1" dirty="0"/>
              <a:t>Trauma stewardship: An everyday guide to caring for self while caring for others</a:t>
            </a:r>
            <a:r>
              <a:rPr lang="en-US" dirty="0"/>
              <a:t>. San Francisco, CA: </a:t>
            </a:r>
            <a:r>
              <a:rPr lang="en-US" dirty="0" err="1"/>
              <a:t>Berrett</a:t>
            </a:r>
            <a:r>
              <a:rPr lang="en-US" dirty="0"/>
              <a:t>-Koehler.</a:t>
            </a:r>
          </a:p>
          <a:p>
            <a:r>
              <a:rPr lang="en-US" dirty="0"/>
              <a:t>Mulligan, P. (2018, September 17). </a:t>
            </a:r>
            <a:r>
              <a:rPr lang="en-US" i="1" dirty="0"/>
              <a:t>Secondary Trauma: Impact and Solutions</a:t>
            </a:r>
            <a:r>
              <a:rPr lang="en-US" dirty="0"/>
              <a:t>. Lecture presented at DSHS Presentation in South Seattle Community College, Seattle.</a:t>
            </a:r>
          </a:p>
          <a:p>
            <a:r>
              <a:rPr lang="en-US" dirty="0"/>
              <a:t>Stella </a:t>
            </a:r>
            <a:r>
              <a:rPr lang="en-US" dirty="0" err="1"/>
              <a:t>Hariyono</a:t>
            </a:r>
            <a:r>
              <a:rPr lang="en-US" dirty="0"/>
              <a:t> </a:t>
            </a:r>
            <a:r>
              <a:rPr lang="en-US" dirty="0" err="1"/>
              <a:t>Oei</a:t>
            </a:r>
            <a:r>
              <a:rPr lang="en-US" dirty="0"/>
              <a:t>, E. (Director). (2018, April 14). </a:t>
            </a:r>
            <a:r>
              <a:rPr lang="en-US" i="1" dirty="0"/>
              <a:t>Side Effects</a:t>
            </a:r>
            <a:r>
              <a:rPr lang="en-US" dirty="0"/>
              <a:t> [Video file]. Retrieved December 28, 2018, from </a:t>
            </a:r>
            <a:r>
              <a:rPr lang="en-US" dirty="0">
                <a:hlinkClick r:id="rId3"/>
              </a:rPr>
              <a:t>https://player.vimeo.com/video/264722244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221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1852</TotalTime>
  <Words>1752</Words>
  <Application>Microsoft Office PowerPoint</Application>
  <PresentationFormat>Widescreen</PresentationFormat>
  <Paragraphs>360</Paragraphs>
  <Slides>40</Slides>
  <Notes>8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Arial</vt:lpstr>
      <vt:lpstr>Calibri</vt:lpstr>
      <vt:lpstr>Calibri Light</vt:lpstr>
      <vt:lpstr>Office Theme</vt:lpstr>
      <vt:lpstr> Identifying Personal Trauma</vt:lpstr>
      <vt:lpstr>Who I am… (Jason)</vt:lpstr>
      <vt:lpstr>Who I am…(Don)</vt:lpstr>
      <vt:lpstr>Who I’m not…(Me, again)</vt:lpstr>
      <vt:lpstr>What This Place Is:</vt:lpstr>
      <vt:lpstr>Driving Matrix</vt:lpstr>
      <vt:lpstr>Situational Awareness</vt:lpstr>
      <vt:lpstr>Goals</vt:lpstr>
      <vt:lpstr>Introductions</vt:lpstr>
      <vt:lpstr>Secondary Trauma</vt:lpstr>
      <vt:lpstr>Trauma</vt:lpstr>
      <vt:lpstr>What About?</vt:lpstr>
      <vt:lpstr>Influencers of Trauma </vt:lpstr>
      <vt:lpstr>Signs of Trauma</vt:lpstr>
      <vt:lpstr>What Triggers Your Trauma?</vt:lpstr>
      <vt:lpstr>My Trauma</vt:lpstr>
      <vt:lpstr>My Secondary Trauma</vt:lpstr>
      <vt:lpstr>PowerPoint Presentation</vt:lpstr>
      <vt:lpstr>Exercise</vt:lpstr>
      <vt:lpstr>Signs of Trauma</vt:lpstr>
      <vt:lpstr>Getting Back to Baseline</vt:lpstr>
      <vt:lpstr>PowerPoint Presentation</vt:lpstr>
      <vt:lpstr>Break </vt:lpstr>
      <vt:lpstr>PowerPoint Presentation</vt:lpstr>
      <vt:lpstr>Managing Trauma</vt:lpstr>
      <vt:lpstr>You Should ask Yourself…</vt:lpstr>
      <vt:lpstr>What Can We Do?</vt:lpstr>
      <vt:lpstr>Exploring Potential Supports</vt:lpstr>
      <vt:lpstr>Exercise</vt:lpstr>
      <vt:lpstr>Relationships</vt:lpstr>
      <vt:lpstr>PowerPoint Presentation</vt:lpstr>
      <vt:lpstr>What can we do?</vt:lpstr>
      <vt:lpstr>Final Thoughts</vt:lpstr>
      <vt:lpstr>PowerPoint Presentation</vt:lpstr>
      <vt:lpstr>PowerPoint Presentation</vt:lpstr>
      <vt:lpstr>It Works Out…</vt:lpstr>
      <vt:lpstr>Resources</vt:lpstr>
      <vt:lpstr>Additional Trainings</vt:lpstr>
      <vt:lpstr>Questions?</vt:lpstr>
      <vt:lpstr>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York, Jason (DSHS/OOS/ERMO)</cp:lastModifiedBy>
  <cp:revision>45</cp:revision>
  <dcterms:created xsi:type="dcterms:W3CDTF">2019-09-12T19:47:00Z</dcterms:created>
  <dcterms:modified xsi:type="dcterms:W3CDTF">2023-10-23T18:35:30Z</dcterms:modified>
</cp:coreProperties>
</file>